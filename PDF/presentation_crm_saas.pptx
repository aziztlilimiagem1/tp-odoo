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Je suis Aziz Tlili et je suis ravi de vous présenter mon projet de Master MIAGE : un CRM SaaS moderne. Ce projet vise à révolutionner la gestion de la relation client grâce à des technologies de pointe. Nous avons mis l'accent sur la performance, l'expérience utilisateur et la sécurité des données. Nous allons voir comment cette solution répond aux défis actuels des entreprises. Passons maintenant au contexte et aux problématiques que ce CRM adresse.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Notre CRM répond aux défis de la gestion client moderne. Le problème principal est la fragmentation des données, souvent éparpillées dans des fichiers Excel. Ce projet centralise toutes les informations clients pour un suivi commercial optimal. Il permet aussi une collaboration d'équipe fluide et un accès sécurisé aux données. Voyons maintenant comment une architecture Full SaaS rend cela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une scalabilité immédiate, nous avons opté pour une architecture Full SaaS. Next.js 16 assure des performances optimales et un rendu hybride. Supabase gère la base de données, l'authentification et le temps réel sans serveur. Brevo automatise les campagnes emailing et le suivi marketing. Vercel déploie le tout avec une intégration CI/CD native. Cette approche zéro serveur nous permet de nous concentrer sur la logique métier. La sécurité est gérée nativement par ces plateformes. Ensuite, nous verrons comment un workflow de développement professionnel soutient cette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workflow de développement professionnel est essentiel pour ce projet. Nous utilisons Git et GitHub pour le versioning et les Pull Requests. Vercel assure un déploiement continu : chaque commit sur la branche principale déclenche un déploiement. Cette architecture serverless simplifie la maintenance et garantit une scalabilité automatique. Ce workflow structuré assure la stabilité du code entre les environnements. Voyons maintenant la conception de notre base de données relationnelle robuste.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L'hébergement cloud est crucial pour la performance et la sécurité. Vercel optimise l'hébergement pour Next.js, avec déploiement automatique et scalabilité globale. La gestion des secrets est sécurisée, protégeant nos clés API. Vercel assure aussi les certificats SSL et la protection DDoS. Cette infrastructure Edge garantit des temps de réponse ultra-rapides. Ensuite, nous aborderons la conception de notre base de données relationnelle robuste.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conception d'une base de données relationnelle robuste est le pilier de notre solution. Nous avons structuré des tables PostgreSQL clés comme 'companies', 'contacts', 'leads' et 'tasks', avec des relations fortes pour garantir l'intégrité des données. L'isolation multi-tenant est cruciale ici, elle assure que chaque organisation voit uniquement ses propres données. Nous utilisons les politiques Row Level Security directement dans PostgreSQL pour filtrer les accès. Les API Routes de Next.js orchestrent toutes les interactions avec Supabase. Maintenant, voyons comment nous sécurisons l'accès à ces données.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sécurité des accès et l'isolation des données sont fondamentales pour notre CRM. Nous utilisons Supabase Auth pour une gestion robuste des sessions, avec des JWT pour une sécurité accrue. Ensuite, la gestion des rôles permet des permissions différenciées, adaptées à chaque utilisateur. Mais le point clé, c'est le Row Level Security qui garantit une isolation totale des données entre les organisations. Chaque client ne voit que ses propres informations, c'est crucial. Après cette fondation sécurisée, voyons comment une interface intuitive rend tout cela accessible.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Après la sécurité, l'efficacité passe par une interface intuitive pour la gestion métier. Notre CRM offre une gestion complète des fiches clients, entreprises et prospects, tout est unifié. Nous avons aussi des relations intelligentes entre les contacts et leurs entreprises, pour une vision 360 degrés. Et pour ne rien rater, un historique détaillé des interactions et un suivi rigoureux des opportunités. Enfin, une recherche globale et des filtres dynamiques permettent de retrouver l'information en un clin d'œil. Voyons comment on visualise tout ça.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interface intuitive se prolonge avec le pilotage visuel du cycle de vente. On utilise une vue Kanban, super claire pour voir l'état de toutes les opportunités. Le Drag &amp; Drop rend le changement de statut intuitif, on fait progresser les leads facilement. Pour la productivité, on peut créer des tâches, des rappels, et planifier des relances directement dans le système. Et les notifications d'échéances garantissent un suivi rigoureux. Mais comment on communique avec les clients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l'automatisation marketing et la communication digitale, nous avons intégré Brevo. Cette connexion API/SMTP permet d'envoyer des emails automatiques, déclenchés par des événements CRM. On utilise des modèles dynamiques, personnalisables, pour une communication cohérente et pro. On peut aussi suivre les performances en temps réel, avec les taux d'ouverture et de clics. Et toutes les communications sortantes sont archivées dans la fiche contact. Enfin, comment on mesure tout ça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Après avoir vu l'automatisation, on se tourne vers la visualisation des performances. Notre dashboard analytique est le cœur du pilotage. Il affiche les indicateurs commerciaux clés, comme le chiffre d'affaires total et le taux de conversion. On peut aussi analyser l'efficacité de nos campagnes emailing. Les graphiques dynamiques montrent l'évolution de l'activité et la répartition des leads en temps réel. Ces tableaux de bord intelligents sont une aide précieuse à la décision, basée sur des données fiables. Ils offrent une vision claire pour un pilotage stratégique. C'est une base solide pour le projet. Et ce projet a été une opportunité unique de consolider un socle de compétences techniques très solide.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projet a vraiment été une opportunité unique de consolider un socle de compétences techniques très solide. J'ai pu approfondir ma maîtrise de React et Next.js 16, en utilisant TypeScript pour un code robuste et maintenable. Côté backend, j'ai modélisé des bases de données PostgreSQL avec une sécurité RLS, et j'ai géré l'authentification via JWT. L'intégration de services SaaS comme Brevo pour l'emailing et Supabase a été cruciale. Le déploiement sur Vercel et la gestion de projet de bout en bout ont complété cette expérience. Maintenant, passons à la pratique avec une démonstration concrète de ce que nous avons construit.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Après avoir détaillé les compétences acquises, il est temps de passer à la démonstration en direct. Je vais vous montrer comment notre CRM fonctionne en pratique. Nous commencerons par le Dashboard, qui offre un pilotage en temps réel des indicateurs clés. Ensuite, je vous présenterai le CRM Agile, pour la gestion fluide des contacts et opportunités. Le Pipeline Kanban, avec son système de drag &amp; drop, vous montrera comment nous suivons visuellement le tunnel de vente. Et enfin, nous verrons l'automatisation des communications avec l'emailing Brevo. Après cette démo, nous pourrons conclure sur les perspectives d'évolution.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ce projet a été une opportunité incroyable de développer un CRM Full SaaS fonctionnel. J'ai validé une architecture moderne, combinant Next.js, Supabase et Brevo, avec un workflow DevOps professionnel. Pour l'avenir, on pourrait intégrer de l'intelligence artificielle pour le scoring des leads. On pourrait aussi développer une application mobile native pour les commerciaux sur le terrain. C'est une base solide pour de futures évolutions.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3047674" cy="5143500"/>
          </a:xfrm>
          <a:prstGeom prst="rect">
            <a:avLst/>
          </a:prstGeom>
          <a:solidFill>
            <a:srgbClr val="0F172A"/>
          </a:solidFill>
          <a:ln/>
        </p:spPr>
      </p:sp>
      <p:sp>
        <p:nvSpPr>
          <p:cNvPr id="5" name="Text 1"/>
          <p:cNvSpPr/>
          <p:nvPr/>
        </p:nvSpPr>
        <p:spPr>
          <a:xfrm>
            <a:off x="428625" y="1760767"/>
            <a:ext cx="2333299" cy="1005818"/>
          </a:xfrm>
          <a:prstGeom prst="rect">
            <a:avLst/>
          </a:prstGeom>
          <a:noFill/>
          <a:ln/>
        </p:spPr>
        <p:txBody>
          <a:bodyPr wrap="square" lIns="0" tIns="0" rIns="0" bIns="0" rtlCol="0" anchor="t">
            <a:spAutoFit/>
          </a:bodyPr>
          <a:lstStyle/>
          <a:p>
            <a:pPr algn="l" indent="0" marL="0">
              <a:lnSpc>
                <a:spcPts val="4000"/>
              </a:lnSpc>
              <a:buNone/>
            </a:pPr>
            <a:r>
              <a:rPr lang="en-US" sz="3294" b="1" dirty="0">
                <a:solidFill>
                  <a:srgbClr val="FFFFFF"/>
                </a:solidFill>
                <a:latin typeface="Inter Tight" pitchFamily="34" charset="0"/>
                <a:ea typeface="Inter Tight" pitchFamily="34" charset="-122"/>
                <a:cs typeface="Inter Tight" pitchFamily="34" charset="-120"/>
              </a:rPr>
              <a:t>Projet CRM SaaS</a:t>
            </a:r>
            <a:endParaRPr lang="en-US" sz="3294" dirty="0"/>
          </a:p>
        </p:txBody>
      </p:sp>
      <p:sp>
        <p:nvSpPr>
          <p:cNvPr id="6" name="Text 2"/>
          <p:cNvSpPr/>
          <p:nvPr/>
        </p:nvSpPr>
        <p:spPr>
          <a:xfrm>
            <a:off x="428625" y="3052335"/>
            <a:ext cx="2333299" cy="514350"/>
          </a:xfrm>
          <a:prstGeom prst="rect">
            <a:avLst/>
          </a:prstGeom>
          <a:noFill/>
          <a:ln/>
        </p:spPr>
        <p:txBody>
          <a:bodyPr wrap="square" lIns="0" tIns="0" rIns="0" bIns="0" rtlCol="0" anchor="t">
            <a:spAutoFit/>
          </a:bodyPr>
          <a:lstStyle/>
          <a:p>
            <a:pPr algn="l" indent="0" marL="0">
              <a:lnSpc>
                <a:spcPts val="2000"/>
              </a:lnSpc>
              <a:buNone/>
            </a:pPr>
            <a:r>
              <a:rPr lang="en-US" sz="1193" b="1" dirty="0">
                <a:solidFill>
                  <a:srgbClr val="3B82F6"/>
                </a:solidFill>
                <a:latin typeface="Inter Tight" pitchFamily="34" charset="0"/>
                <a:ea typeface="Inter Tight" pitchFamily="34" charset="-122"/>
                <a:cs typeface="Inter Tight" pitchFamily="34" charset="-120"/>
              </a:rPr>
              <a:t>Aziz Tlili</a:t>
            </a:r>
            <a:pPr algn="l" indent="0" marL="0">
              <a:lnSpc>
                <a:spcPts val="2000"/>
              </a:lnSpc>
              <a:buNone/>
            </a:pPr>
            <a:r>
              <a:rPr lang="en-US" sz="1193" b="1" dirty="0">
                <a:solidFill>
                  <a:srgbClr val="3B82F6"/>
                </a:solidFill>
                <a:latin typeface="Inter Tight" pitchFamily="34" charset="0"/>
                <a:ea typeface="Inter Tight" pitchFamily="34" charset="-122"/>
                <a:cs typeface="Inter Tight" pitchFamily="34" charset="-120"/>
              </a:rPr>
              <a:t>
</a:t>
            </a:r>
            <a:pPr algn="l" indent="0" marL="0">
              <a:lnSpc>
                <a:spcPts val="2000"/>
              </a:lnSpc>
              <a:buNone/>
            </a:pPr>
            <a:r>
              <a:rPr lang="en-US" sz="1193" b="1" dirty="0">
                <a:solidFill>
                  <a:srgbClr val="3B82F6"/>
                </a:solidFill>
                <a:latin typeface="Inter Tight" pitchFamily="34" charset="0"/>
                <a:ea typeface="Inter Tight" pitchFamily="34" charset="-122"/>
                <a:cs typeface="Inter Tight" pitchFamily="34" charset="-120"/>
              </a:rPr>
              <a:t> M1 MIAGE 2025-2026</a:t>
            </a:r>
            <a:endParaRPr lang="en-US" sz="1193" dirty="0"/>
          </a:p>
        </p:txBody>
      </p:sp>
      <p:sp>
        <p:nvSpPr>
          <p:cNvPr id="7" name="Text 3"/>
          <p:cNvSpPr/>
          <p:nvPr/>
        </p:nvSpPr>
        <p:spPr>
          <a:xfrm>
            <a:off x="428625" y="3638122"/>
            <a:ext cx="2333299" cy="173236"/>
          </a:xfrm>
          <a:prstGeom prst="rect">
            <a:avLst/>
          </a:prstGeom>
          <a:noFill/>
          <a:ln/>
        </p:spPr>
        <p:txBody>
          <a:bodyPr wrap="none" lIns="0" tIns="0" rIns="0" bIns="0" rtlCol="0" anchor="t">
            <a:spAutoFit/>
          </a:bodyPr>
          <a:lstStyle/>
          <a:p>
            <a:pPr algn="l" indent="0" marL="0">
              <a:lnSpc>
                <a:spcPts val="1400"/>
              </a:lnSpc>
              <a:buNone/>
            </a:pPr>
            <a:r>
              <a:rPr lang="en-US" sz="1050" dirty="0">
                <a:solidFill>
                  <a:srgbClr val="94A3B8"/>
                </a:solidFill>
                <a:latin typeface="Inter Tight" pitchFamily="34" charset="0"/>
                <a:ea typeface="Inter Tight" pitchFamily="34" charset="-122"/>
                <a:cs typeface="Inter Tight" pitchFamily="34" charset="-120"/>
              </a:rPr>
              <a:t>Next.js + Supabase + Brevo</a:t>
            </a:r>
            <a:endParaRPr lang="en-US" sz="1050" dirty="0"/>
          </a:p>
        </p:txBody>
      </p:sp>
      <p:sp>
        <p:nvSpPr>
          <p:cNvPr id="8" name="Shape 4"/>
          <p:cNvSpPr/>
          <p:nvPr/>
        </p:nvSpPr>
        <p:spPr>
          <a:xfrm>
            <a:off x="3047674" y="0"/>
            <a:ext cx="6095377" cy="5143500"/>
          </a:xfrm>
          <a:prstGeom prst="rect">
            <a:avLst/>
          </a:prstGeom>
          <a:solidFill>
            <a:srgbClr val="F8FAFC"/>
          </a:solidFill>
          <a:ln/>
        </p:spPr>
      </p:sp>
      <p:pic>
        <p:nvPicPr>
          <p:cNvPr id="9" name="Image 1" descr="preencoded.png">    </p:cNvPr>
          <p:cNvPicPr>
            <a:picLocks noChangeAspect="1"/>
          </p:cNvPicPr>
          <p:nvPr/>
        </p:nvPicPr>
        <p:blipFill>
          <a:blip r:embed="rId2"/>
          <a:stretch>
            <a:fillRect/>
          </a:stretch>
        </p:blipFill>
        <p:spPr>
          <a:xfrm>
            <a:off x="3309286" y="857250"/>
            <a:ext cx="5572125" cy="37147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3047674" cy="5143500"/>
          </a:xfrm>
          <a:prstGeom prst="rect">
            <a:avLst/>
          </a:prstGeom>
          <a:solidFill>
            <a:srgbClr val="0F172A"/>
          </a:solidFill>
          <a:ln/>
        </p:spPr>
      </p:sp>
      <p:sp>
        <p:nvSpPr>
          <p:cNvPr id="5" name="Text 1"/>
          <p:cNvSpPr/>
          <p:nvPr/>
        </p:nvSpPr>
        <p:spPr>
          <a:xfrm>
            <a:off x="428625" y="2134586"/>
            <a:ext cx="2333299" cy="1131503"/>
          </a:xfrm>
          <a:prstGeom prst="rect">
            <a:avLst/>
          </a:prstGeom>
          <a:noFill/>
          <a:ln/>
        </p:spPr>
        <p:txBody>
          <a:bodyPr wrap="square" lIns="0" tIns="0" rIns="0" bIns="0" rtlCol="0" anchor="t">
            <a:spAutoFit/>
          </a:bodyPr>
          <a:lstStyle/>
          <a:p>
            <a:pPr algn="l" indent="0" marL="0">
              <a:lnSpc>
                <a:spcPts val="3000"/>
              </a:lnSpc>
              <a:buNone/>
            </a:pPr>
            <a:r>
              <a:rPr lang="en-US" sz="2436" b="1" dirty="0">
                <a:solidFill>
                  <a:srgbClr val="FFFFFF"/>
                </a:solidFill>
                <a:latin typeface="Inter Tight" pitchFamily="34" charset="0"/>
                <a:ea typeface="Inter Tight" pitchFamily="34" charset="-122"/>
                <a:cs typeface="Inter Tight" pitchFamily="34" charset="-120"/>
              </a:rPr>
              <a:t>Contexte &amp; Objectifs Pédagogiques</a:t>
            </a:r>
            <a:endParaRPr lang="en-US" sz="2436" dirty="0"/>
          </a:p>
        </p:txBody>
      </p:sp>
      <p:sp>
        <p:nvSpPr>
          <p:cNvPr id="6" name="Shape 2"/>
          <p:cNvSpPr/>
          <p:nvPr/>
        </p:nvSpPr>
        <p:spPr>
          <a:xfrm>
            <a:off x="3047674" y="0"/>
            <a:ext cx="6095377" cy="5143500"/>
          </a:xfrm>
          <a:prstGeom prst="rect">
            <a:avLst/>
          </a:prstGeom>
          <a:solidFill>
            <a:srgbClr val="F8FAFC"/>
          </a:solidFill>
          <a:ln/>
        </p:spPr>
      </p:sp>
      <p:sp>
        <p:nvSpPr>
          <p:cNvPr id="7" name="Text 3"/>
          <p:cNvSpPr/>
          <p:nvPr/>
        </p:nvSpPr>
        <p:spPr>
          <a:xfrm>
            <a:off x="3619174" y="571500"/>
            <a:ext cx="4952377" cy="242888"/>
          </a:xfrm>
          <a:prstGeom prst="rect">
            <a:avLst/>
          </a:prstGeom>
          <a:noFill/>
          <a:ln/>
        </p:spPr>
        <p:txBody>
          <a:bodyPr wrap="none" lIns="0" tIns="0" rIns="0" bIns="0" rtlCol="0" anchor="t">
            <a:spAutoFit/>
          </a:bodyPr>
          <a:lstStyle/>
          <a:p>
            <a:pPr algn="l" indent="0" marL="0">
              <a:lnSpc>
                <a:spcPts val="1900"/>
              </a:lnSpc>
              <a:buNone/>
            </a:pPr>
            <a:r>
              <a:rPr lang="en-US" sz="1397" b="1" dirty="0">
                <a:solidFill>
                  <a:srgbClr val="0F172A"/>
                </a:solidFill>
                <a:latin typeface="Inter Tight" pitchFamily="34" charset="0"/>
                <a:ea typeface="Inter Tight" pitchFamily="34" charset="-122"/>
                <a:cs typeface="Inter Tight" pitchFamily="34" charset="-120"/>
              </a:rPr>
              <a:t>Centralisation des données</a:t>
            </a:r>
            <a:endParaRPr lang="en-US" sz="1397" dirty="0"/>
          </a:p>
        </p:txBody>
      </p:sp>
      <p:sp>
        <p:nvSpPr>
          <p:cNvPr id="8" name="Text 4"/>
          <p:cNvSpPr/>
          <p:nvPr/>
        </p:nvSpPr>
        <p:spPr>
          <a:xfrm>
            <a:off x="3619174" y="885825"/>
            <a:ext cx="4952377" cy="457200"/>
          </a:xfrm>
          <a:prstGeom prst="rect">
            <a:avLst/>
          </a:prstGeom>
          <a:noFill/>
          <a:ln/>
        </p:spPr>
        <p:txBody>
          <a:bodyPr wrap="square" lIns="0" tIns="0" rIns="0" bIns="0" rtlCol="0" anchor="t">
            <a:spAutoFit/>
          </a:bodyPr>
          <a:lstStyle/>
          <a:p>
            <a:pPr algn="l" indent="0" marL="0">
              <a:lnSpc>
                <a:spcPts val="1800"/>
              </a:lnSpc>
              <a:buNone/>
            </a:pPr>
            <a:r>
              <a:rPr lang="en-US" sz="987" b="1" dirty="0">
                <a:solidFill>
                  <a:srgbClr val="334155"/>
                </a:solidFill>
                <a:latin typeface="Inter Tight" pitchFamily="34" charset="0"/>
                <a:ea typeface="Inter Tight" pitchFamily="34" charset="-122"/>
                <a:cs typeface="Inter Tight" pitchFamily="34" charset="-120"/>
              </a:rPr>
              <a:t>Éviter la fragmentation des données clients et marketing au sein d'une interface unique et sécurisée.</a:t>
            </a:r>
            <a:endParaRPr lang="en-US" sz="987" dirty="0"/>
          </a:p>
        </p:txBody>
      </p:sp>
      <p:sp>
        <p:nvSpPr>
          <p:cNvPr id="9" name="Text 5"/>
          <p:cNvSpPr/>
          <p:nvPr/>
        </p:nvSpPr>
        <p:spPr>
          <a:xfrm>
            <a:off x="3619174" y="1628775"/>
            <a:ext cx="4952377" cy="242888"/>
          </a:xfrm>
          <a:prstGeom prst="rect">
            <a:avLst/>
          </a:prstGeom>
          <a:noFill/>
          <a:ln/>
        </p:spPr>
        <p:txBody>
          <a:bodyPr wrap="none" lIns="0" tIns="0" rIns="0" bIns="0" rtlCol="0" anchor="t">
            <a:spAutoFit/>
          </a:bodyPr>
          <a:lstStyle/>
          <a:p>
            <a:pPr algn="l" indent="0" marL="0">
              <a:lnSpc>
                <a:spcPts val="1900"/>
              </a:lnSpc>
              <a:buNone/>
            </a:pPr>
            <a:r>
              <a:rPr lang="en-US" sz="1397" b="1" dirty="0">
                <a:solidFill>
                  <a:srgbClr val="0F172A"/>
                </a:solidFill>
                <a:latin typeface="Inter Tight" pitchFamily="34" charset="0"/>
                <a:ea typeface="Inter Tight" pitchFamily="34" charset="-122"/>
                <a:cs typeface="Inter Tight" pitchFamily="34" charset="-120"/>
              </a:rPr>
              <a:t>Automatisation Marketing</a:t>
            </a:r>
            <a:endParaRPr lang="en-US" sz="1397" dirty="0"/>
          </a:p>
        </p:txBody>
      </p:sp>
      <p:sp>
        <p:nvSpPr>
          <p:cNvPr id="10" name="Text 6"/>
          <p:cNvSpPr/>
          <p:nvPr/>
        </p:nvSpPr>
        <p:spPr>
          <a:xfrm>
            <a:off x="3619174" y="1943100"/>
            <a:ext cx="4952377" cy="457200"/>
          </a:xfrm>
          <a:prstGeom prst="rect">
            <a:avLst/>
          </a:prstGeom>
          <a:noFill/>
          <a:ln/>
        </p:spPr>
        <p:txBody>
          <a:bodyPr wrap="square" lIns="0" tIns="0" rIns="0" bIns="0" rtlCol="0" anchor="t">
            <a:spAutoFit/>
          </a:bodyPr>
          <a:lstStyle/>
          <a:p>
            <a:pPr algn="l" indent="0" marL="0">
              <a:lnSpc>
                <a:spcPts val="1800"/>
              </a:lnSpc>
              <a:buNone/>
            </a:pPr>
            <a:r>
              <a:rPr lang="en-US" sz="987" b="1" dirty="0">
                <a:solidFill>
                  <a:srgbClr val="334155"/>
                </a:solidFill>
                <a:latin typeface="Inter Tight" pitchFamily="34" charset="0"/>
                <a:ea typeface="Inter Tight" pitchFamily="34" charset="-122"/>
                <a:cs typeface="Inter Tight" pitchFamily="34" charset="-120"/>
              </a:rPr>
              <a:t>Mettre en place des processus de communication digitale efficaces pour optimiser la relation client.</a:t>
            </a:r>
            <a:endParaRPr lang="en-US" sz="987" dirty="0"/>
          </a:p>
        </p:txBody>
      </p:sp>
      <p:sp>
        <p:nvSpPr>
          <p:cNvPr id="11" name="Text 7"/>
          <p:cNvSpPr/>
          <p:nvPr/>
        </p:nvSpPr>
        <p:spPr>
          <a:xfrm>
            <a:off x="3619174" y="2686050"/>
            <a:ext cx="4952377" cy="242888"/>
          </a:xfrm>
          <a:prstGeom prst="rect">
            <a:avLst/>
          </a:prstGeom>
          <a:noFill/>
          <a:ln/>
        </p:spPr>
        <p:txBody>
          <a:bodyPr wrap="none" lIns="0" tIns="0" rIns="0" bIns="0" rtlCol="0" anchor="t">
            <a:spAutoFit/>
          </a:bodyPr>
          <a:lstStyle/>
          <a:p>
            <a:pPr algn="l" indent="0" marL="0">
              <a:lnSpc>
                <a:spcPts val="1900"/>
              </a:lnSpc>
              <a:buNone/>
            </a:pPr>
            <a:r>
              <a:rPr lang="en-US" sz="1397" b="1" dirty="0">
                <a:solidFill>
                  <a:srgbClr val="0F172A"/>
                </a:solidFill>
                <a:latin typeface="Inter Tight" pitchFamily="34" charset="0"/>
                <a:ea typeface="Inter Tight" pitchFamily="34" charset="-122"/>
                <a:cs typeface="Inter Tight" pitchFamily="34" charset="-120"/>
              </a:rPr>
              <a:t>Analyse de Performance</a:t>
            </a:r>
            <a:endParaRPr lang="en-US" sz="1397" dirty="0"/>
          </a:p>
        </p:txBody>
      </p:sp>
      <p:sp>
        <p:nvSpPr>
          <p:cNvPr id="12" name="Text 8"/>
          <p:cNvSpPr/>
          <p:nvPr/>
        </p:nvSpPr>
        <p:spPr>
          <a:xfrm>
            <a:off x="3619174" y="3000375"/>
            <a:ext cx="4952377" cy="457200"/>
          </a:xfrm>
          <a:prstGeom prst="rect">
            <a:avLst/>
          </a:prstGeom>
          <a:noFill/>
          <a:ln/>
        </p:spPr>
        <p:txBody>
          <a:bodyPr wrap="square" lIns="0" tIns="0" rIns="0" bIns="0" rtlCol="0" anchor="t">
            <a:spAutoFit/>
          </a:bodyPr>
          <a:lstStyle/>
          <a:p>
            <a:pPr algn="l" indent="0" marL="0">
              <a:lnSpc>
                <a:spcPts val="1800"/>
              </a:lnSpc>
              <a:buNone/>
            </a:pPr>
            <a:r>
              <a:rPr lang="en-US" sz="987" b="1" dirty="0">
                <a:solidFill>
                  <a:srgbClr val="334155"/>
                </a:solidFill>
                <a:latin typeface="Inter Tight" pitchFamily="34" charset="0"/>
                <a:ea typeface="Inter Tight" pitchFamily="34" charset="-122"/>
                <a:cs typeface="Inter Tight" pitchFamily="34" charset="-120"/>
              </a:rPr>
              <a:t>Visualiser les performances commerciales et marketing via des tableaux de bord intelligents et en temps réel.</a:t>
            </a:r>
            <a:endParaRPr lang="en-US" sz="987" dirty="0"/>
          </a:p>
        </p:txBody>
      </p:sp>
      <p:sp>
        <p:nvSpPr>
          <p:cNvPr id="13" name="Text 9"/>
          <p:cNvSpPr/>
          <p:nvPr/>
        </p:nvSpPr>
        <p:spPr>
          <a:xfrm>
            <a:off x="3619174" y="3743325"/>
            <a:ext cx="4952377" cy="242888"/>
          </a:xfrm>
          <a:prstGeom prst="rect">
            <a:avLst/>
          </a:prstGeom>
          <a:noFill/>
          <a:ln/>
        </p:spPr>
        <p:txBody>
          <a:bodyPr wrap="none" lIns="0" tIns="0" rIns="0" bIns="0" rtlCol="0" anchor="t">
            <a:spAutoFit/>
          </a:bodyPr>
          <a:lstStyle/>
          <a:p>
            <a:pPr algn="l" indent="0" marL="0">
              <a:lnSpc>
                <a:spcPts val="1900"/>
              </a:lnSpc>
              <a:buNone/>
            </a:pPr>
            <a:r>
              <a:rPr lang="en-US" sz="1397" b="1" dirty="0">
                <a:solidFill>
                  <a:srgbClr val="0F172A"/>
                </a:solidFill>
                <a:latin typeface="Inter Tight" pitchFamily="34" charset="0"/>
                <a:ea typeface="Inter Tight" pitchFamily="34" charset="-122"/>
                <a:cs typeface="Inter Tight" pitchFamily="34" charset="-120"/>
              </a:rPr>
              <a:t>Maîtrise du Cycle Projet</a:t>
            </a:r>
            <a:endParaRPr lang="en-US" sz="1397" dirty="0"/>
          </a:p>
        </p:txBody>
      </p:sp>
      <p:sp>
        <p:nvSpPr>
          <p:cNvPr id="14" name="Text 10"/>
          <p:cNvSpPr/>
          <p:nvPr/>
        </p:nvSpPr>
        <p:spPr>
          <a:xfrm>
            <a:off x="3619174" y="4057650"/>
            <a:ext cx="4952377" cy="457200"/>
          </a:xfrm>
          <a:prstGeom prst="rect">
            <a:avLst/>
          </a:prstGeom>
          <a:noFill/>
          <a:ln/>
        </p:spPr>
        <p:txBody>
          <a:bodyPr wrap="square" lIns="0" tIns="0" rIns="0" bIns="0" rtlCol="0" anchor="t">
            <a:spAutoFit/>
          </a:bodyPr>
          <a:lstStyle/>
          <a:p>
            <a:pPr algn="l" indent="0" marL="0">
              <a:lnSpc>
                <a:spcPts val="1800"/>
              </a:lnSpc>
              <a:buNone/>
            </a:pPr>
            <a:r>
              <a:rPr lang="en-US" sz="987" b="1" dirty="0">
                <a:solidFill>
                  <a:srgbClr val="334155"/>
                </a:solidFill>
                <a:latin typeface="Inter Tight" pitchFamily="34" charset="0"/>
                <a:ea typeface="Inter Tight" pitchFamily="34" charset="-122"/>
                <a:cs typeface="Inter Tight" pitchFamily="34" charset="-120"/>
              </a:rPr>
              <a:t>Valider les compétences techniques et transversales, de la conception au déploiement en production.</a:t>
            </a:r>
            <a:endParaRPr lang="en-US" sz="987"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3047674" cy="5143500"/>
          </a:xfrm>
          <a:prstGeom prst="rect">
            <a:avLst/>
          </a:prstGeom>
          <a:solidFill>
            <a:srgbClr val="0F172A"/>
          </a:solidFill>
          <a:ln/>
        </p:spPr>
      </p:sp>
      <p:sp>
        <p:nvSpPr>
          <p:cNvPr id="5" name="Text 1"/>
          <p:cNvSpPr/>
          <p:nvPr/>
        </p:nvSpPr>
        <p:spPr>
          <a:xfrm>
            <a:off x="428625" y="2323170"/>
            <a:ext cx="2333299" cy="754335"/>
          </a:xfrm>
          <a:prstGeom prst="rect">
            <a:avLst/>
          </a:prstGeom>
          <a:noFill/>
          <a:ln/>
        </p:spPr>
        <p:txBody>
          <a:bodyPr wrap="square" lIns="0" tIns="0" rIns="0" bIns="0" rtlCol="0" anchor="t">
            <a:spAutoFit/>
          </a:bodyPr>
          <a:lstStyle/>
          <a:p>
            <a:pPr algn="l" indent="0" marL="0">
              <a:lnSpc>
                <a:spcPts val="3000"/>
              </a:lnSpc>
              <a:buNone/>
            </a:pPr>
            <a:r>
              <a:rPr lang="en-US" sz="2436" b="1" dirty="0">
                <a:solidFill>
                  <a:srgbClr val="FFFFFF"/>
                </a:solidFill>
                <a:latin typeface="Inter Tight" pitchFamily="34" charset="0"/>
                <a:ea typeface="Inter Tight" pitchFamily="34" charset="-122"/>
                <a:cs typeface="Inter Tight" pitchFamily="34" charset="-120"/>
              </a:rPr>
              <a:t>Architecture Full SaaS</a:t>
            </a:r>
            <a:endParaRPr lang="en-US" sz="2436" dirty="0"/>
          </a:p>
        </p:txBody>
      </p:sp>
      <p:sp>
        <p:nvSpPr>
          <p:cNvPr id="6" name="Shape 2"/>
          <p:cNvSpPr/>
          <p:nvPr/>
        </p:nvSpPr>
        <p:spPr>
          <a:xfrm>
            <a:off x="3047674" y="0"/>
            <a:ext cx="6095377" cy="5143500"/>
          </a:xfrm>
          <a:prstGeom prst="rect">
            <a:avLst/>
          </a:prstGeom>
          <a:solidFill>
            <a:srgbClr val="F8FAFC"/>
          </a:solidFill>
          <a:ln/>
        </p:spPr>
      </p:sp>
      <p:sp>
        <p:nvSpPr>
          <p:cNvPr id="7" name="Text 3"/>
          <p:cNvSpPr/>
          <p:nvPr/>
        </p:nvSpPr>
        <p:spPr>
          <a:xfrm>
            <a:off x="3619174" y="571500"/>
            <a:ext cx="2333299" cy="242888"/>
          </a:xfrm>
          <a:prstGeom prst="rect">
            <a:avLst/>
          </a:prstGeom>
          <a:noFill/>
          <a:ln/>
        </p:spPr>
        <p:txBody>
          <a:bodyPr wrap="none" lIns="0" tIns="0" rIns="0" bIns="0" rtlCol="0" anchor="t">
            <a:spAutoFit/>
          </a:bodyPr>
          <a:lstStyle/>
          <a:p>
            <a:pPr algn="l" indent="0" marL="0">
              <a:lnSpc>
                <a:spcPts val="1900"/>
              </a:lnSpc>
              <a:buNone/>
            </a:pPr>
            <a:r>
              <a:rPr lang="en-US" sz="1397" b="1" dirty="0">
                <a:solidFill>
                  <a:srgbClr val="3B82F6"/>
                </a:solidFill>
                <a:latin typeface="Inter Tight" pitchFamily="34" charset="0"/>
                <a:ea typeface="Inter Tight" pitchFamily="34" charset="-122"/>
                <a:cs typeface="Inter Tight" pitchFamily="34" charset="-120"/>
              </a:rPr>
              <a:t>Next.js 16</a:t>
            </a:r>
            <a:endParaRPr lang="en-US" sz="1397" dirty="0"/>
          </a:p>
        </p:txBody>
      </p:sp>
      <p:sp>
        <p:nvSpPr>
          <p:cNvPr id="8" name="Text 4"/>
          <p:cNvSpPr/>
          <p:nvPr/>
        </p:nvSpPr>
        <p:spPr>
          <a:xfrm>
            <a:off x="3619174" y="885825"/>
            <a:ext cx="2333299" cy="578644"/>
          </a:xfrm>
          <a:prstGeom prst="rect">
            <a:avLst/>
          </a:prstGeom>
          <a:noFill/>
          <a:ln/>
        </p:spPr>
        <p:txBody>
          <a:bodyPr wrap="square" lIns="0" tIns="0" rIns="0" bIns="0" rtlCol="0" anchor="t">
            <a:spAutoFit/>
          </a:bodyPr>
          <a:lstStyle/>
          <a:p>
            <a:pPr algn="l" indent="0" marL="0">
              <a:lnSpc>
                <a:spcPts val="1500"/>
              </a:lnSpc>
              <a:buNone/>
            </a:pPr>
            <a:r>
              <a:rPr lang="en-US" sz="885" b="1" dirty="0">
                <a:solidFill>
                  <a:srgbClr val="334155"/>
                </a:solidFill>
                <a:latin typeface="Inter Tight" pitchFamily="34" charset="0"/>
                <a:ea typeface="Inter Tight" pitchFamily="34" charset="-122"/>
                <a:cs typeface="Inter Tight" pitchFamily="34" charset="-120"/>
              </a:rPr>
              <a:t>Framework React avec App Router pour des performances optimales et un rendu hybride (SSR/SSG).</a:t>
            </a:r>
            <a:endParaRPr lang="en-US" sz="885" dirty="0"/>
          </a:p>
        </p:txBody>
      </p:sp>
      <p:sp>
        <p:nvSpPr>
          <p:cNvPr id="9" name="Text 5"/>
          <p:cNvSpPr/>
          <p:nvPr/>
        </p:nvSpPr>
        <p:spPr>
          <a:xfrm>
            <a:off x="6238224" y="571500"/>
            <a:ext cx="2333327" cy="242888"/>
          </a:xfrm>
          <a:prstGeom prst="rect">
            <a:avLst/>
          </a:prstGeom>
          <a:noFill/>
          <a:ln/>
        </p:spPr>
        <p:txBody>
          <a:bodyPr wrap="none" lIns="0" tIns="0" rIns="0" bIns="0" rtlCol="0" anchor="t">
            <a:spAutoFit/>
          </a:bodyPr>
          <a:lstStyle/>
          <a:p>
            <a:pPr algn="l" indent="0" marL="0">
              <a:lnSpc>
                <a:spcPts val="1900"/>
              </a:lnSpc>
              <a:buNone/>
            </a:pPr>
            <a:r>
              <a:rPr lang="en-US" sz="1397" b="1" dirty="0">
                <a:solidFill>
                  <a:srgbClr val="3B82F6"/>
                </a:solidFill>
                <a:latin typeface="Inter Tight" pitchFamily="34" charset="0"/>
                <a:ea typeface="Inter Tight" pitchFamily="34" charset="-122"/>
                <a:cs typeface="Inter Tight" pitchFamily="34" charset="-120"/>
              </a:rPr>
              <a:t>Supabase</a:t>
            </a:r>
            <a:endParaRPr lang="en-US" sz="1397" dirty="0"/>
          </a:p>
        </p:txBody>
      </p:sp>
      <p:sp>
        <p:nvSpPr>
          <p:cNvPr id="10" name="Text 6"/>
          <p:cNvSpPr/>
          <p:nvPr/>
        </p:nvSpPr>
        <p:spPr>
          <a:xfrm>
            <a:off x="6238224" y="885825"/>
            <a:ext cx="2333327" cy="578644"/>
          </a:xfrm>
          <a:prstGeom prst="rect">
            <a:avLst/>
          </a:prstGeom>
          <a:noFill/>
          <a:ln/>
        </p:spPr>
        <p:txBody>
          <a:bodyPr wrap="square" lIns="0" tIns="0" rIns="0" bIns="0" rtlCol="0" anchor="t">
            <a:spAutoFit/>
          </a:bodyPr>
          <a:lstStyle/>
          <a:p>
            <a:pPr algn="l" indent="0" marL="0">
              <a:lnSpc>
                <a:spcPts val="1500"/>
              </a:lnSpc>
              <a:buNone/>
            </a:pPr>
            <a:r>
              <a:rPr lang="en-US" sz="885" b="1" dirty="0">
                <a:solidFill>
                  <a:srgbClr val="334155"/>
                </a:solidFill>
                <a:latin typeface="Inter Tight" pitchFamily="34" charset="0"/>
                <a:ea typeface="Inter Tight" pitchFamily="34" charset="-122"/>
                <a:cs typeface="Inter Tight" pitchFamily="34" charset="-120"/>
              </a:rPr>
              <a:t>Backend-as-a-Service (BaaS) gérant la base PostgreSQL, l'Auth et le temps réel sans serveur.</a:t>
            </a:r>
            <a:endParaRPr lang="en-US" sz="885" dirty="0"/>
          </a:p>
        </p:txBody>
      </p:sp>
      <p:sp>
        <p:nvSpPr>
          <p:cNvPr id="11" name="Text 7"/>
          <p:cNvSpPr/>
          <p:nvPr/>
        </p:nvSpPr>
        <p:spPr>
          <a:xfrm>
            <a:off x="3619174" y="1893094"/>
            <a:ext cx="2333299" cy="242888"/>
          </a:xfrm>
          <a:prstGeom prst="rect">
            <a:avLst/>
          </a:prstGeom>
          <a:noFill/>
          <a:ln/>
        </p:spPr>
        <p:txBody>
          <a:bodyPr wrap="none" lIns="0" tIns="0" rIns="0" bIns="0" rtlCol="0" anchor="t">
            <a:spAutoFit/>
          </a:bodyPr>
          <a:lstStyle/>
          <a:p>
            <a:pPr algn="l" indent="0" marL="0">
              <a:lnSpc>
                <a:spcPts val="1900"/>
              </a:lnSpc>
              <a:buNone/>
            </a:pPr>
            <a:r>
              <a:rPr lang="en-US" sz="1397" b="1" dirty="0">
                <a:solidFill>
                  <a:srgbClr val="3B82F6"/>
                </a:solidFill>
                <a:latin typeface="Inter Tight" pitchFamily="34" charset="0"/>
                <a:ea typeface="Inter Tight" pitchFamily="34" charset="-122"/>
                <a:cs typeface="Inter Tight" pitchFamily="34" charset="-120"/>
              </a:rPr>
              <a:t>Brevo</a:t>
            </a:r>
            <a:endParaRPr lang="en-US" sz="1397" dirty="0"/>
          </a:p>
        </p:txBody>
      </p:sp>
      <p:sp>
        <p:nvSpPr>
          <p:cNvPr id="12" name="Text 8"/>
          <p:cNvSpPr/>
          <p:nvPr/>
        </p:nvSpPr>
        <p:spPr>
          <a:xfrm>
            <a:off x="3619174" y="2207419"/>
            <a:ext cx="2333299" cy="578644"/>
          </a:xfrm>
          <a:prstGeom prst="rect">
            <a:avLst/>
          </a:prstGeom>
          <a:noFill/>
          <a:ln/>
        </p:spPr>
        <p:txBody>
          <a:bodyPr wrap="square" lIns="0" tIns="0" rIns="0" bIns="0" rtlCol="0" anchor="t">
            <a:spAutoFit/>
          </a:bodyPr>
          <a:lstStyle/>
          <a:p>
            <a:pPr algn="l" indent="0" marL="0">
              <a:lnSpc>
                <a:spcPts val="1500"/>
              </a:lnSpc>
              <a:buNone/>
            </a:pPr>
            <a:r>
              <a:rPr lang="en-US" sz="885" b="1" dirty="0">
                <a:solidFill>
                  <a:srgbClr val="334155"/>
                </a:solidFill>
                <a:latin typeface="Inter Tight" pitchFamily="34" charset="0"/>
                <a:ea typeface="Inter Tight" pitchFamily="34" charset="-122"/>
                <a:cs typeface="Inter Tight" pitchFamily="34" charset="-120"/>
              </a:rPr>
              <a:t>Service d'emailing SaaS pour l'automatisation des campagnes et le suivi des interactions marketing.</a:t>
            </a:r>
            <a:endParaRPr lang="en-US" sz="885" dirty="0"/>
          </a:p>
        </p:txBody>
      </p:sp>
      <p:sp>
        <p:nvSpPr>
          <p:cNvPr id="13" name="Text 9"/>
          <p:cNvSpPr/>
          <p:nvPr/>
        </p:nvSpPr>
        <p:spPr>
          <a:xfrm>
            <a:off x="6238224" y="1893094"/>
            <a:ext cx="2333327" cy="242888"/>
          </a:xfrm>
          <a:prstGeom prst="rect">
            <a:avLst/>
          </a:prstGeom>
          <a:noFill/>
          <a:ln/>
        </p:spPr>
        <p:txBody>
          <a:bodyPr wrap="none" lIns="0" tIns="0" rIns="0" bIns="0" rtlCol="0" anchor="t">
            <a:spAutoFit/>
          </a:bodyPr>
          <a:lstStyle/>
          <a:p>
            <a:pPr algn="l" indent="0" marL="0">
              <a:lnSpc>
                <a:spcPts val="1900"/>
              </a:lnSpc>
              <a:buNone/>
            </a:pPr>
            <a:r>
              <a:rPr lang="en-US" sz="1397" b="1" dirty="0">
                <a:solidFill>
                  <a:srgbClr val="3B82F6"/>
                </a:solidFill>
                <a:latin typeface="Inter Tight" pitchFamily="34" charset="0"/>
                <a:ea typeface="Inter Tight" pitchFamily="34" charset="-122"/>
                <a:cs typeface="Inter Tight" pitchFamily="34" charset="-120"/>
              </a:rPr>
              <a:t>Vercel</a:t>
            </a:r>
            <a:endParaRPr lang="en-US" sz="1397" dirty="0"/>
          </a:p>
        </p:txBody>
      </p:sp>
      <p:sp>
        <p:nvSpPr>
          <p:cNvPr id="14" name="Text 10"/>
          <p:cNvSpPr/>
          <p:nvPr/>
        </p:nvSpPr>
        <p:spPr>
          <a:xfrm>
            <a:off x="6238224" y="2207419"/>
            <a:ext cx="2333327" cy="578644"/>
          </a:xfrm>
          <a:prstGeom prst="rect">
            <a:avLst/>
          </a:prstGeom>
          <a:noFill/>
          <a:ln/>
        </p:spPr>
        <p:txBody>
          <a:bodyPr wrap="square" lIns="0" tIns="0" rIns="0" bIns="0" rtlCol="0" anchor="t">
            <a:spAutoFit/>
          </a:bodyPr>
          <a:lstStyle/>
          <a:p>
            <a:pPr algn="l" indent="0" marL="0">
              <a:lnSpc>
                <a:spcPts val="1500"/>
              </a:lnSpc>
              <a:buNone/>
            </a:pPr>
            <a:r>
              <a:rPr lang="en-US" sz="885" b="1" dirty="0">
                <a:solidFill>
                  <a:srgbClr val="334155"/>
                </a:solidFill>
                <a:latin typeface="Inter Tight" pitchFamily="34" charset="0"/>
                <a:ea typeface="Inter Tight" pitchFamily="34" charset="-122"/>
                <a:cs typeface="Inter Tight" pitchFamily="34" charset="-120"/>
              </a:rPr>
              <a:t>Plateforme de déploiement cloud assurant une scalabilité immédiate et une intégration CI/CD native.</a:t>
            </a:r>
            <a:endParaRPr lang="en-US" sz="885" dirty="0"/>
          </a:p>
        </p:txBody>
      </p:sp>
      <p:sp>
        <p:nvSpPr>
          <p:cNvPr id="15" name="Text 11"/>
          <p:cNvSpPr/>
          <p:nvPr/>
        </p:nvSpPr>
        <p:spPr>
          <a:xfrm>
            <a:off x="3619174" y="3214688"/>
            <a:ext cx="2333299" cy="242888"/>
          </a:xfrm>
          <a:prstGeom prst="rect">
            <a:avLst/>
          </a:prstGeom>
          <a:noFill/>
          <a:ln/>
        </p:spPr>
        <p:txBody>
          <a:bodyPr wrap="none" lIns="0" tIns="0" rIns="0" bIns="0" rtlCol="0" anchor="t">
            <a:spAutoFit/>
          </a:bodyPr>
          <a:lstStyle/>
          <a:p>
            <a:pPr algn="l" indent="0" marL="0">
              <a:lnSpc>
                <a:spcPts val="1900"/>
              </a:lnSpc>
              <a:buNone/>
            </a:pPr>
            <a:r>
              <a:rPr lang="en-US" sz="1397" b="1" dirty="0">
                <a:solidFill>
                  <a:srgbClr val="3B82F6"/>
                </a:solidFill>
                <a:latin typeface="Inter Tight" pitchFamily="34" charset="0"/>
                <a:ea typeface="Inter Tight" pitchFamily="34" charset="-122"/>
                <a:cs typeface="Inter Tight" pitchFamily="34" charset="-120"/>
              </a:rPr>
              <a:t>Zéro Serveur</a:t>
            </a:r>
            <a:endParaRPr lang="en-US" sz="1397" dirty="0"/>
          </a:p>
        </p:txBody>
      </p:sp>
      <p:sp>
        <p:nvSpPr>
          <p:cNvPr id="16" name="Text 12"/>
          <p:cNvSpPr/>
          <p:nvPr/>
        </p:nvSpPr>
        <p:spPr>
          <a:xfrm>
            <a:off x="3619174" y="3529013"/>
            <a:ext cx="2333299" cy="578644"/>
          </a:xfrm>
          <a:prstGeom prst="rect">
            <a:avLst/>
          </a:prstGeom>
          <a:noFill/>
          <a:ln/>
        </p:spPr>
        <p:txBody>
          <a:bodyPr wrap="square" lIns="0" tIns="0" rIns="0" bIns="0" rtlCol="0" anchor="t">
            <a:spAutoFit/>
          </a:bodyPr>
          <a:lstStyle/>
          <a:p>
            <a:pPr algn="l" indent="0" marL="0">
              <a:lnSpc>
                <a:spcPts val="1500"/>
              </a:lnSpc>
              <a:buNone/>
            </a:pPr>
            <a:r>
              <a:rPr lang="en-US" sz="885" b="1" dirty="0">
                <a:solidFill>
                  <a:srgbClr val="334155"/>
                </a:solidFill>
                <a:latin typeface="Inter Tight" pitchFamily="34" charset="0"/>
                <a:ea typeface="Inter Tight" pitchFamily="34" charset="-122"/>
                <a:cs typeface="Inter Tight" pitchFamily="34" charset="-120"/>
              </a:rPr>
              <a:t>Aucune administration système requise, permettant de se concentrer sur la logique métier.</a:t>
            </a:r>
            <a:endParaRPr lang="en-US" sz="885" dirty="0"/>
          </a:p>
        </p:txBody>
      </p:sp>
      <p:sp>
        <p:nvSpPr>
          <p:cNvPr id="17" name="Text 13"/>
          <p:cNvSpPr/>
          <p:nvPr/>
        </p:nvSpPr>
        <p:spPr>
          <a:xfrm>
            <a:off x="6238224" y="3214688"/>
            <a:ext cx="2333327" cy="242888"/>
          </a:xfrm>
          <a:prstGeom prst="rect">
            <a:avLst/>
          </a:prstGeom>
          <a:noFill/>
          <a:ln/>
        </p:spPr>
        <p:txBody>
          <a:bodyPr wrap="none" lIns="0" tIns="0" rIns="0" bIns="0" rtlCol="0" anchor="t">
            <a:spAutoFit/>
          </a:bodyPr>
          <a:lstStyle/>
          <a:p>
            <a:pPr algn="l" indent="0" marL="0">
              <a:lnSpc>
                <a:spcPts val="1900"/>
              </a:lnSpc>
              <a:buNone/>
            </a:pPr>
            <a:r>
              <a:rPr lang="en-US" sz="1397" b="1" dirty="0">
                <a:solidFill>
                  <a:srgbClr val="3B82F6"/>
                </a:solidFill>
                <a:latin typeface="Inter Tight" pitchFamily="34" charset="0"/>
                <a:ea typeface="Inter Tight" pitchFamily="34" charset="-122"/>
                <a:cs typeface="Inter Tight" pitchFamily="34" charset="-120"/>
              </a:rPr>
              <a:t>Sécurité Gérée</a:t>
            </a:r>
            <a:endParaRPr lang="en-US" sz="1397" dirty="0"/>
          </a:p>
        </p:txBody>
      </p:sp>
      <p:sp>
        <p:nvSpPr>
          <p:cNvPr id="18" name="Text 14"/>
          <p:cNvSpPr/>
          <p:nvPr/>
        </p:nvSpPr>
        <p:spPr>
          <a:xfrm>
            <a:off x="6238224" y="3529013"/>
            <a:ext cx="2333327" cy="578644"/>
          </a:xfrm>
          <a:prstGeom prst="rect">
            <a:avLst/>
          </a:prstGeom>
          <a:noFill/>
          <a:ln/>
        </p:spPr>
        <p:txBody>
          <a:bodyPr wrap="square" lIns="0" tIns="0" rIns="0" bIns="0" rtlCol="0" anchor="t">
            <a:spAutoFit/>
          </a:bodyPr>
          <a:lstStyle/>
          <a:p>
            <a:pPr algn="l" indent="0" marL="0">
              <a:lnSpc>
                <a:spcPts val="1500"/>
              </a:lnSpc>
              <a:buNone/>
            </a:pPr>
            <a:r>
              <a:rPr lang="en-US" sz="885" b="1" dirty="0">
                <a:solidFill>
                  <a:srgbClr val="334155"/>
                </a:solidFill>
                <a:latin typeface="Inter Tight" pitchFamily="34" charset="0"/>
                <a:ea typeface="Inter Tight" pitchFamily="34" charset="-122"/>
                <a:cs typeface="Inter Tight" pitchFamily="34" charset="-120"/>
              </a:rPr>
              <a:t>Protection native assurée par les plateformes SaaS (SSL, Firewall, Isolation des données).</a:t>
            </a:r>
            <a:endParaRPr lang="en-US" sz="88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3047674" cy="5143500"/>
          </a:xfrm>
          <a:prstGeom prst="rect">
            <a:avLst/>
          </a:prstGeom>
          <a:solidFill>
            <a:srgbClr val="0F172A"/>
          </a:solidFill>
          <a:ln/>
        </p:spPr>
      </p:sp>
      <p:sp>
        <p:nvSpPr>
          <p:cNvPr id="5" name="Text 1"/>
          <p:cNvSpPr/>
          <p:nvPr/>
        </p:nvSpPr>
        <p:spPr>
          <a:xfrm>
            <a:off x="428625" y="2134586"/>
            <a:ext cx="2333299" cy="1131503"/>
          </a:xfrm>
          <a:prstGeom prst="rect">
            <a:avLst/>
          </a:prstGeom>
          <a:noFill/>
          <a:ln/>
        </p:spPr>
        <p:txBody>
          <a:bodyPr wrap="square" lIns="0" tIns="0" rIns="0" bIns="0" rtlCol="0" anchor="t">
            <a:spAutoFit/>
          </a:bodyPr>
          <a:lstStyle/>
          <a:p>
            <a:pPr algn="l" indent="0" marL="0">
              <a:lnSpc>
                <a:spcPts val="3000"/>
              </a:lnSpc>
              <a:buNone/>
            </a:pPr>
            <a:r>
              <a:rPr lang="en-US" sz="2436" b="1" dirty="0">
                <a:solidFill>
                  <a:srgbClr val="FFFFFF"/>
                </a:solidFill>
                <a:latin typeface="Inter Tight" pitchFamily="34" charset="0"/>
                <a:ea typeface="Inter Tight" pitchFamily="34" charset="-122"/>
                <a:cs typeface="Inter Tight" pitchFamily="34" charset="-120"/>
              </a:rPr>
              <a:t>Workflow DevOps &amp; CI/CD</a:t>
            </a:r>
            <a:endParaRPr lang="en-US" sz="2436" dirty="0"/>
          </a:p>
        </p:txBody>
      </p:sp>
      <p:sp>
        <p:nvSpPr>
          <p:cNvPr id="6" name="Shape 2"/>
          <p:cNvSpPr/>
          <p:nvPr/>
        </p:nvSpPr>
        <p:spPr>
          <a:xfrm>
            <a:off x="3047674" y="0"/>
            <a:ext cx="6095377" cy="5143500"/>
          </a:xfrm>
          <a:prstGeom prst="rect">
            <a:avLst/>
          </a:prstGeom>
          <a:solidFill>
            <a:srgbClr val="F8FAFC"/>
          </a:solidFill>
          <a:ln/>
        </p:spPr>
      </p:sp>
      <p:sp>
        <p:nvSpPr>
          <p:cNvPr id="7" name="Text 3"/>
          <p:cNvSpPr/>
          <p:nvPr/>
        </p:nvSpPr>
        <p:spPr>
          <a:xfrm>
            <a:off x="3476299" y="428625"/>
            <a:ext cx="2511893" cy="189309"/>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0F172A"/>
                </a:solidFill>
                <a:latin typeface="Inter Tight" pitchFamily="34" charset="0"/>
                <a:ea typeface="Inter Tight" pitchFamily="34" charset="-122"/>
                <a:cs typeface="Inter Tight" pitchFamily="34" charset="-120"/>
              </a:rPr>
              <a:t>Gestion de Code</a:t>
            </a:r>
            <a:endParaRPr lang="en-US" sz="1090" dirty="0"/>
          </a:p>
        </p:txBody>
      </p:sp>
      <p:sp>
        <p:nvSpPr>
          <p:cNvPr id="8" name="Text 4"/>
          <p:cNvSpPr/>
          <p:nvPr/>
        </p:nvSpPr>
        <p:spPr>
          <a:xfrm>
            <a:off x="3476299" y="675084"/>
            <a:ext cx="2511893" cy="342900"/>
          </a:xfrm>
          <a:prstGeom prst="rect">
            <a:avLst/>
          </a:prstGeom>
          <a:noFill/>
          <a:ln/>
        </p:spPr>
        <p:txBody>
          <a:bodyPr wrap="square" lIns="0" tIns="0" rIns="0" bIns="0" rtlCol="0" anchor="t">
            <a:spAutoFit/>
          </a:bodyPr>
          <a:lstStyle/>
          <a:p>
            <a:pPr algn="l" indent="0" marL="0">
              <a:lnSpc>
                <a:spcPts val="1400"/>
              </a:lnSpc>
              <a:buNone/>
            </a:pPr>
            <a:r>
              <a:rPr lang="en-US" sz="784" b="1" dirty="0">
                <a:solidFill>
                  <a:srgbClr val="334155"/>
                </a:solidFill>
                <a:latin typeface="Inter Tight" pitchFamily="34" charset="0"/>
                <a:ea typeface="Inter Tight" pitchFamily="34" charset="-122"/>
                <a:cs typeface="Inter Tight" pitchFamily="34" charset="-120"/>
              </a:rPr>
              <a:t>Utilisation de Git et GitHub pour le versioning, la gestion des branches et des Pull Requests.</a:t>
            </a:r>
            <a:endParaRPr lang="en-US" sz="784" dirty="0"/>
          </a:p>
        </p:txBody>
      </p:sp>
      <p:sp>
        <p:nvSpPr>
          <p:cNvPr id="9" name="Text 5"/>
          <p:cNvSpPr/>
          <p:nvPr/>
        </p:nvSpPr>
        <p:spPr>
          <a:xfrm>
            <a:off x="6202505" y="428625"/>
            <a:ext cx="2511921" cy="189309"/>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0F172A"/>
                </a:solidFill>
                <a:latin typeface="Inter Tight" pitchFamily="34" charset="0"/>
                <a:ea typeface="Inter Tight" pitchFamily="34" charset="-122"/>
                <a:cs typeface="Inter Tight" pitchFamily="34" charset="-120"/>
              </a:rPr>
              <a:t>Déploiement Continu</a:t>
            </a:r>
            <a:endParaRPr lang="en-US" sz="1090" dirty="0"/>
          </a:p>
        </p:txBody>
      </p:sp>
      <p:sp>
        <p:nvSpPr>
          <p:cNvPr id="10" name="Text 6"/>
          <p:cNvSpPr/>
          <p:nvPr/>
        </p:nvSpPr>
        <p:spPr>
          <a:xfrm>
            <a:off x="6202505" y="675084"/>
            <a:ext cx="2511921" cy="342900"/>
          </a:xfrm>
          <a:prstGeom prst="rect">
            <a:avLst/>
          </a:prstGeom>
          <a:noFill/>
          <a:ln/>
        </p:spPr>
        <p:txBody>
          <a:bodyPr wrap="square" lIns="0" tIns="0" rIns="0" bIns="0" rtlCol="0" anchor="t">
            <a:spAutoFit/>
          </a:bodyPr>
          <a:lstStyle/>
          <a:p>
            <a:pPr algn="l" indent="0" marL="0">
              <a:lnSpc>
                <a:spcPts val="1400"/>
              </a:lnSpc>
              <a:buNone/>
            </a:pPr>
            <a:r>
              <a:rPr lang="en-US" sz="784" b="1" dirty="0">
                <a:solidFill>
                  <a:srgbClr val="334155"/>
                </a:solidFill>
                <a:latin typeface="Inter Tight" pitchFamily="34" charset="0"/>
                <a:ea typeface="Inter Tight" pitchFamily="34" charset="-122"/>
                <a:cs typeface="Inter Tight" pitchFamily="34" charset="-120"/>
              </a:rPr>
              <a:t>Intégration CI/CD via Vercel : chaque commit sur la branche principale déclenche un déploiement.</a:t>
            </a:r>
            <a:endParaRPr lang="en-US" sz="784" dirty="0"/>
          </a:p>
        </p:txBody>
      </p:sp>
      <p:sp>
        <p:nvSpPr>
          <p:cNvPr id="11" name="Text 7"/>
          <p:cNvSpPr/>
          <p:nvPr/>
        </p:nvSpPr>
        <p:spPr>
          <a:xfrm>
            <a:off x="3476299" y="1232297"/>
            <a:ext cx="2511893" cy="189309"/>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0F172A"/>
                </a:solidFill>
                <a:latin typeface="Inter Tight" pitchFamily="34" charset="0"/>
                <a:ea typeface="Inter Tight" pitchFamily="34" charset="-122"/>
                <a:cs typeface="Inter Tight" pitchFamily="34" charset="-120"/>
              </a:rPr>
              <a:t>Pratiques Serverless</a:t>
            </a:r>
            <a:endParaRPr lang="en-US" sz="1090" dirty="0"/>
          </a:p>
        </p:txBody>
      </p:sp>
      <p:sp>
        <p:nvSpPr>
          <p:cNvPr id="12" name="Text 8"/>
          <p:cNvSpPr/>
          <p:nvPr/>
        </p:nvSpPr>
        <p:spPr>
          <a:xfrm>
            <a:off x="3476299" y="1478756"/>
            <a:ext cx="2511893" cy="514350"/>
          </a:xfrm>
          <a:prstGeom prst="rect">
            <a:avLst/>
          </a:prstGeom>
          <a:noFill/>
          <a:ln/>
        </p:spPr>
        <p:txBody>
          <a:bodyPr wrap="square" lIns="0" tIns="0" rIns="0" bIns="0" rtlCol="0" anchor="t">
            <a:spAutoFit/>
          </a:bodyPr>
          <a:lstStyle/>
          <a:p>
            <a:pPr algn="l" indent="0" marL="0">
              <a:lnSpc>
                <a:spcPts val="1400"/>
              </a:lnSpc>
              <a:buNone/>
            </a:pPr>
            <a:r>
              <a:rPr lang="en-US" sz="784" b="1" dirty="0">
                <a:solidFill>
                  <a:srgbClr val="334155"/>
                </a:solidFill>
                <a:latin typeface="Inter Tight" pitchFamily="34" charset="0"/>
                <a:ea typeface="Inter Tight" pitchFamily="34" charset="-122"/>
                <a:cs typeface="Inter Tight" pitchFamily="34" charset="-120"/>
              </a:rPr>
              <a:t>Architecture sans serveur permettant une maintenance simplifiée et une scalabilité automatique.</a:t>
            </a:r>
            <a:endParaRPr lang="en-US" sz="784" dirty="0"/>
          </a:p>
        </p:txBody>
      </p:sp>
      <p:sp>
        <p:nvSpPr>
          <p:cNvPr id="13" name="Text 9"/>
          <p:cNvSpPr/>
          <p:nvPr/>
        </p:nvSpPr>
        <p:spPr>
          <a:xfrm>
            <a:off x="6202505" y="1232297"/>
            <a:ext cx="2511921" cy="189309"/>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0F172A"/>
                </a:solidFill>
                <a:latin typeface="Inter Tight" pitchFamily="34" charset="0"/>
                <a:ea typeface="Inter Tight" pitchFamily="34" charset="-122"/>
                <a:cs typeface="Inter Tight" pitchFamily="34" charset="-120"/>
              </a:rPr>
              <a:t>Qualité Logicielle</a:t>
            </a:r>
            <a:endParaRPr lang="en-US" sz="1090" dirty="0"/>
          </a:p>
        </p:txBody>
      </p:sp>
      <p:sp>
        <p:nvSpPr>
          <p:cNvPr id="14" name="Text 10"/>
          <p:cNvSpPr/>
          <p:nvPr/>
        </p:nvSpPr>
        <p:spPr>
          <a:xfrm>
            <a:off x="6202505" y="1478756"/>
            <a:ext cx="2511921" cy="342900"/>
          </a:xfrm>
          <a:prstGeom prst="rect">
            <a:avLst/>
          </a:prstGeom>
          <a:noFill/>
          <a:ln/>
        </p:spPr>
        <p:txBody>
          <a:bodyPr wrap="square" lIns="0" tIns="0" rIns="0" bIns="0" rtlCol="0" anchor="t">
            <a:spAutoFit/>
          </a:bodyPr>
          <a:lstStyle/>
          <a:p>
            <a:pPr algn="l" indent="0" marL="0">
              <a:lnSpc>
                <a:spcPts val="1400"/>
              </a:lnSpc>
              <a:buNone/>
            </a:pPr>
            <a:r>
              <a:rPr lang="en-US" sz="784" b="1" dirty="0">
                <a:solidFill>
                  <a:srgbClr val="334155"/>
                </a:solidFill>
                <a:latin typeface="Inter Tight" pitchFamily="34" charset="0"/>
                <a:ea typeface="Inter Tight" pitchFamily="34" charset="-122"/>
                <a:cs typeface="Inter Tight" pitchFamily="34" charset="-120"/>
              </a:rPr>
              <a:t>Workflow structuré garantissant la stabilité du code entre les environnements de dev et de prod.</a:t>
            </a:r>
            <a:endParaRPr lang="en-US" sz="784" dirty="0"/>
          </a:p>
        </p:txBody>
      </p:sp>
      <p:sp>
        <p:nvSpPr>
          <p:cNvPr id="15" name="Shape 11"/>
          <p:cNvSpPr/>
          <p:nvPr/>
        </p:nvSpPr>
        <p:spPr>
          <a:xfrm>
            <a:off x="3476299" y="2207419"/>
            <a:ext cx="5238127" cy="2714625"/>
          </a:xfrm>
          <a:prstGeom prst="rect">
            <a:avLst/>
          </a:prstGeom>
          <a:solidFill>
            <a:srgbClr val="FFFFFF"/>
          </a:solidFill>
          <a:ln w="18288">
            <a:solidFill>
              <a:srgbClr val="334155"/>
            </a:solidFill>
            <a:prstDash val="solid"/>
          </a:ln>
        </p:spPr>
      </p:sp>
      <p:pic>
        <p:nvPicPr>
          <p:cNvPr id="16" name="Image 1" descr="preencoded.png">    </p:cNvPr>
          <p:cNvPicPr>
            <a:picLocks noChangeAspect="1"/>
          </p:cNvPicPr>
          <p:nvPr/>
        </p:nvPicPr>
        <p:blipFill>
          <a:blip r:embed="rId2"/>
          <a:stretch>
            <a:fillRect/>
          </a:stretch>
        </p:blipFill>
        <p:spPr>
          <a:xfrm>
            <a:off x="3595036" y="2278856"/>
            <a:ext cx="5000625" cy="25717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3047674" cy="5143500"/>
          </a:xfrm>
          <a:prstGeom prst="rect">
            <a:avLst/>
          </a:prstGeom>
          <a:solidFill>
            <a:srgbClr val="0F172A"/>
          </a:solidFill>
          <a:ln/>
        </p:spPr>
      </p:sp>
      <p:sp>
        <p:nvSpPr>
          <p:cNvPr id="5" name="Text 1"/>
          <p:cNvSpPr/>
          <p:nvPr/>
        </p:nvSpPr>
        <p:spPr>
          <a:xfrm>
            <a:off x="428625" y="1946002"/>
            <a:ext cx="2333299" cy="1508671"/>
          </a:xfrm>
          <a:prstGeom prst="rect">
            <a:avLst/>
          </a:prstGeom>
          <a:noFill/>
          <a:ln/>
        </p:spPr>
        <p:txBody>
          <a:bodyPr wrap="square" lIns="0" tIns="0" rIns="0" bIns="0" rtlCol="0" anchor="t">
            <a:spAutoFit/>
          </a:bodyPr>
          <a:lstStyle/>
          <a:p>
            <a:pPr algn="l" indent="0" marL="0">
              <a:lnSpc>
                <a:spcPts val="3000"/>
              </a:lnSpc>
              <a:buNone/>
            </a:pPr>
            <a:r>
              <a:rPr lang="en-US" sz="2436" b="1" dirty="0">
                <a:solidFill>
                  <a:srgbClr val="FFFFFF"/>
                </a:solidFill>
                <a:latin typeface="Inter Tight" pitchFamily="34" charset="0"/>
                <a:ea typeface="Inter Tight" pitchFamily="34" charset="-122"/>
                <a:cs typeface="Inter Tight" pitchFamily="34" charset="-120"/>
              </a:rPr>
              <a:t>Hébergement &amp; Configuration Cloud</a:t>
            </a:r>
            <a:endParaRPr lang="en-US" sz="2436" dirty="0"/>
          </a:p>
        </p:txBody>
      </p:sp>
      <p:sp>
        <p:nvSpPr>
          <p:cNvPr id="6" name="Shape 2"/>
          <p:cNvSpPr/>
          <p:nvPr/>
        </p:nvSpPr>
        <p:spPr>
          <a:xfrm>
            <a:off x="3047674" y="0"/>
            <a:ext cx="6095377" cy="5143500"/>
          </a:xfrm>
          <a:prstGeom prst="rect">
            <a:avLst/>
          </a:prstGeom>
          <a:solidFill>
            <a:srgbClr val="F8FAFC"/>
          </a:solidFill>
          <a:ln/>
        </p:spPr>
      </p:sp>
      <p:sp>
        <p:nvSpPr>
          <p:cNvPr id="7" name="Text 3"/>
          <p:cNvSpPr/>
          <p:nvPr/>
        </p:nvSpPr>
        <p:spPr>
          <a:xfrm>
            <a:off x="3476299" y="428625"/>
            <a:ext cx="2547612" cy="189309"/>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0F172A"/>
                </a:solidFill>
                <a:latin typeface="Inter Tight" pitchFamily="34" charset="0"/>
                <a:ea typeface="Inter Tight" pitchFamily="34" charset="-122"/>
                <a:cs typeface="Inter Tight" pitchFamily="34" charset="-120"/>
              </a:rPr>
              <a:t>Plateforme Vercel</a:t>
            </a:r>
            <a:endParaRPr lang="en-US" sz="1090" dirty="0"/>
          </a:p>
        </p:txBody>
      </p:sp>
      <p:sp>
        <p:nvSpPr>
          <p:cNvPr id="8" name="Text 4"/>
          <p:cNvSpPr/>
          <p:nvPr/>
        </p:nvSpPr>
        <p:spPr>
          <a:xfrm>
            <a:off x="3476299" y="675084"/>
            <a:ext cx="2547612" cy="342900"/>
          </a:xfrm>
          <a:prstGeom prst="rect">
            <a:avLst/>
          </a:prstGeom>
          <a:noFill/>
          <a:ln/>
        </p:spPr>
        <p:txBody>
          <a:bodyPr wrap="square" lIns="0" tIns="0" rIns="0" bIns="0" rtlCol="0" anchor="t">
            <a:spAutoFit/>
          </a:bodyPr>
          <a:lstStyle/>
          <a:p>
            <a:pPr algn="l" indent="0" marL="0">
              <a:lnSpc>
                <a:spcPts val="1400"/>
              </a:lnSpc>
              <a:buNone/>
            </a:pPr>
            <a:r>
              <a:rPr lang="en-US" sz="784" b="1" dirty="0">
                <a:solidFill>
                  <a:srgbClr val="334155"/>
                </a:solidFill>
                <a:latin typeface="Inter Tight" pitchFamily="34" charset="0"/>
                <a:ea typeface="Inter Tight" pitchFamily="34" charset="-122"/>
                <a:cs typeface="Inter Tight" pitchFamily="34" charset="-120"/>
              </a:rPr>
              <a:t>Hébergement optimisé pour Next.js avec déploiement automatique et scalabilité globale.</a:t>
            </a:r>
            <a:endParaRPr lang="en-US" sz="784" dirty="0"/>
          </a:p>
        </p:txBody>
      </p:sp>
      <p:sp>
        <p:nvSpPr>
          <p:cNvPr id="9" name="Text 5"/>
          <p:cNvSpPr/>
          <p:nvPr/>
        </p:nvSpPr>
        <p:spPr>
          <a:xfrm>
            <a:off x="6166786" y="428625"/>
            <a:ext cx="2547640" cy="189309"/>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0F172A"/>
                </a:solidFill>
                <a:latin typeface="Inter Tight" pitchFamily="34" charset="0"/>
                <a:ea typeface="Inter Tight" pitchFamily="34" charset="-122"/>
                <a:cs typeface="Inter Tight" pitchFamily="34" charset="-120"/>
              </a:rPr>
              <a:t>Gestion des Secrets</a:t>
            </a:r>
            <a:endParaRPr lang="en-US" sz="1090" dirty="0"/>
          </a:p>
        </p:txBody>
      </p:sp>
      <p:sp>
        <p:nvSpPr>
          <p:cNvPr id="10" name="Text 6"/>
          <p:cNvSpPr/>
          <p:nvPr/>
        </p:nvSpPr>
        <p:spPr>
          <a:xfrm>
            <a:off x="6166786" y="675084"/>
            <a:ext cx="2547640" cy="342900"/>
          </a:xfrm>
          <a:prstGeom prst="rect">
            <a:avLst/>
          </a:prstGeom>
          <a:noFill/>
          <a:ln/>
        </p:spPr>
        <p:txBody>
          <a:bodyPr wrap="square" lIns="0" tIns="0" rIns="0" bIns="0" rtlCol="0" anchor="t">
            <a:spAutoFit/>
          </a:bodyPr>
          <a:lstStyle/>
          <a:p>
            <a:pPr algn="l" indent="0" marL="0">
              <a:lnSpc>
                <a:spcPts val="1400"/>
              </a:lnSpc>
              <a:buNone/>
            </a:pPr>
            <a:r>
              <a:rPr lang="en-US" sz="784" b="1" dirty="0">
                <a:solidFill>
                  <a:srgbClr val="334155"/>
                </a:solidFill>
                <a:latin typeface="Inter Tight" pitchFamily="34" charset="0"/>
                <a:ea typeface="Inter Tight" pitchFamily="34" charset="-122"/>
                <a:cs typeface="Inter Tight" pitchFamily="34" charset="-120"/>
              </a:rPr>
              <a:t>Configuration sécurisée des variables d'environnement (Clés API Supabase, Brevo, etc.).</a:t>
            </a:r>
            <a:endParaRPr lang="en-US" sz="784" dirty="0"/>
          </a:p>
        </p:txBody>
      </p:sp>
      <p:sp>
        <p:nvSpPr>
          <p:cNvPr id="11" name="Text 7"/>
          <p:cNvSpPr/>
          <p:nvPr/>
        </p:nvSpPr>
        <p:spPr>
          <a:xfrm>
            <a:off x="3476299" y="1160859"/>
            <a:ext cx="2547612" cy="189309"/>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0F172A"/>
                </a:solidFill>
                <a:latin typeface="Inter Tight" pitchFamily="34" charset="0"/>
                <a:ea typeface="Inter Tight" pitchFamily="34" charset="-122"/>
                <a:cs typeface="Inter Tight" pitchFamily="34" charset="-120"/>
              </a:rPr>
              <a:t>Sécurité &amp; HTTPS</a:t>
            </a:r>
            <a:endParaRPr lang="en-US" sz="1090" dirty="0"/>
          </a:p>
        </p:txBody>
      </p:sp>
      <p:sp>
        <p:nvSpPr>
          <p:cNvPr id="12" name="Text 8"/>
          <p:cNvSpPr/>
          <p:nvPr/>
        </p:nvSpPr>
        <p:spPr>
          <a:xfrm>
            <a:off x="3476299" y="1407319"/>
            <a:ext cx="2547612" cy="342900"/>
          </a:xfrm>
          <a:prstGeom prst="rect">
            <a:avLst/>
          </a:prstGeom>
          <a:noFill/>
          <a:ln/>
        </p:spPr>
        <p:txBody>
          <a:bodyPr wrap="square" lIns="0" tIns="0" rIns="0" bIns="0" rtlCol="0" anchor="t">
            <a:spAutoFit/>
          </a:bodyPr>
          <a:lstStyle/>
          <a:p>
            <a:pPr algn="l" indent="0" marL="0">
              <a:lnSpc>
                <a:spcPts val="1400"/>
              </a:lnSpc>
              <a:buNone/>
            </a:pPr>
            <a:r>
              <a:rPr lang="en-US" sz="784" b="1" dirty="0">
                <a:solidFill>
                  <a:srgbClr val="334155"/>
                </a:solidFill>
                <a:latin typeface="Inter Tight" pitchFamily="34" charset="0"/>
                <a:ea typeface="Inter Tight" pitchFamily="34" charset="-122"/>
                <a:cs typeface="Inter Tight" pitchFamily="34" charset="-120"/>
              </a:rPr>
              <a:t>Certificats SSL natifs et protection contre les attaques DDoS assurés par l'infrastructure Vercel.</a:t>
            </a:r>
            <a:endParaRPr lang="en-US" sz="784" dirty="0"/>
          </a:p>
        </p:txBody>
      </p:sp>
      <p:sp>
        <p:nvSpPr>
          <p:cNvPr id="13" name="Text 9"/>
          <p:cNvSpPr/>
          <p:nvPr/>
        </p:nvSpPr>
        <p:spPr>
          <a:xfrm>
            <a:off x="6166786" y="1160859"/>
            <a:ext cx="2547640" cy="189309"/>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0F172A"/>
                </a:solidFill>
                <a:latin typeface="Inter Tight" pitchFamily="34" charset="0"/>
                <a:ea typeface="Inter Tight" pitchFamily="34" charset="-122"/>
                <a:cs typeface="Inter Tight" pitchFamily="34" charset="-120"/>
              </a:rPr>
              <a:t>Disponibilité</a:t>
            </a:r>
            <a:endParaRPr lang="en-US" sz="1090" dirty="0"/>
          </a:p>
        </p:txBody>
      </p:sp>
      <p:sp>
        <p:nvSpPr>
          <p:cNvPr id="14" name="Text 10"/>
          <p:cNvSpPr/>
          <p:nvPr/>
        </p:nvSpPr>
        <p:spPr>
          <a:xfrm>
            <a:off x="6166786" y="1407319"/>
            <a:ext cx="2547640" cy="342900"/>
          </a:xfrm>
          <a:prstGeom prst="rect">
            <a:avLst/>
          </a:prstGeom>
          <a:noFill/>
          <a:ln/>
        </p:spPr>
        <p:txBody>
          <a:bodyPr wrap="square" lIns="0" tIns="0" rIns="0" bIns="0" rtlCol="0" anchor="t">
            <a:spAutoFit/>
          </a:bodyPr>
          <a:lstStyle/>
          <a:p>
            <a:pPr algn="l" indent="0" marL="0">
              <a:lnSpc>
                <a:spcPts val="1400"/>
              </a:lnSpc>
              <a:buNone/>
            </a:pPr>
            <a:r>
              <a:rPr lang="en-US" sz="784" b="1" dirty="0">
                <a:solidFill>
                  <a:srgbClr val="334155"/>
                </a:solidFill>
                <a:latin typeface="Inter Tight" pitchFamily="34" charset="0"/>
                <a:ea typeface="Inter Tight" pitchFamily="34" charset="-122"/>
                <a:cs typeface="Inter Tight" pitchFamily="34" charset="-120"/>
              </a:rPr>
              <a:t>Infrastructure Edge garantissant des temps de réponse ultra-rapides partout dans le monde.</a:t>
            </a:r>
            <a:endParaRPr lang="en-US" sz="784" dirty="0"/>
          </a:p>
        </p:txBody>
      </p:sp>
      <p:sp>
        <p:nvSpPr>
          <p:cNvPr id="15" name="Shape 11"/>
          <p:cNvSpPr/>
          <p:nvPr/>
        </p:nvSpPr>
        <p:spPr>
          <a:xfrm>
            <a:off x="3476299" y="1893094"/>
            <a:ext cx="5238127" cy="2714625"/>
          </a:xfrm>
          <a:prstGeom prst="rect">
            <a:avLst/>
          </a:prstGeom>
          <a:solidFill>
            <a:srgbClr val="FFFFFF"/>
          </a:solidFill>
          <a:ln w="18288">
            <a:solidFill>
              <a:srgbClr val="334155"/>
            </a:solidFill>
            <a:prstDash val="solid"/>
          </a:ln>
        </p:spPr>
      </p:sp>
      <p:pic>
        <p:nvPicPr>
          <p:cNvPr id="16" name="Image 1" descr="preencoded.png">    </p:cNvPr>
          <p:cNvPicPr>
            <a:picLocks noChangeAspect="1"/>
          </p:cNvPicPr>
          <p:nvPr/>
        </p:nvPicPr>
        <p:blipFill>
          <a:blip r:embed="rId2"/>
          <a:stretch>
            <a:fillRect/>
          </a:stretch>
        </p:blipFill>
        <p:spPr>
          <a:xfrm>
            <a:off x="3595036" y="1964531"/>
            <a:ext cx="5000625" cy="25717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3047674" cy="5143500"/>
          </a:xfrm>
          <a:prstGeom prst="rect">
            <a:avLst/>
          </a:prstGeom>
          <a:solidFill>
            <a:srgbClr val="0F172A"/>
          </a:solidFill>
          <a:ln/>
        </p:spPr>
      </p:sp>
      <p:sp>
        <p:nvSpPr>
          <p:cNvPr id="5" name="Text 1"/>
          <p:cNvSpPr/>
          <p:nvPr/>
        </p:nvSpPr>
        <p:spPr>
          <a:xfrm>
            <a:off x="428625" y="2323170"/>
            <a:ext cx="2333299" cy="754335"/>
          </a:xfrm>
          <a:prstGeom prst="rect">
            <a:avLst/>
          </a:prstGeom>
          <a:noFill/>
          <a:ln/>
        </p:spPr>
        <p:txBody>
          <a:bodyPr wrap="square" lIns="0" tIns="0" rIns="0" bIns="0" rtlCol="0" anchor="t">
            <a:spAutoFit/>
          </a:bodyPr>
          <a:lstStyle/>
          <a:p>
            <a:pPr algn="l" indent="0" marL="0">
              <a:lnSpc>
                <a:spcPts val="3000"/>
              </a:lnSpc>
              <a:buNone/>
            </a:pPr>
            <a:r>
              <a:rPr lang="en-US" sz="2436" b="1" dirty="0">
                <a:solidFill>
                  <a:srgbClr val="FFFFFF"/>
                </a:solidFill>
                <a:latin typeface="Inter Tight" pitchFamily="34" charset="0"/>
                <a:ea typeface="Inter Tight" pitchFamily="34" charset="-122"/>
                <a:cs typeface="Inter Tight" pitchFamily="34" charset="-120"/>
              </a:rPr>
              <a:t>Modélisation &amp; Backend</a:t>
            </a:r>
            <a:endParaRPr lang="en-US" sz="2436" dirty="0"/>
          </a:p>
        </p:txBody>
      </p:sp>
      <p:sp>
        <p:nvSpPr>
          <p:cNvPr id="6" name="Shape 2"/>
          <p:cNvSpPr/>
          <p:nvPr/>
        </p:nvSpPr>
        <p:spPr>
          <a:xfrm>
            <a:off x="3047674" y="0"/>
            <a:ext cx="6095377" cy="5143500"/>
          </a:xfrm>
          <a:prstGeom prst="rect">
            <a:avLst/>
          </a:prstGeom>
          <a:solidFill>
            <a:srgbClr val="F8FAFC"/>
          </a:solidFill>
          <a:ln/>
        </p:spPr>
      </p:sp>
      <p:sp>
        <p:nvSpPr>
          <p:cNvPr id="7" name="Text 3"/>
          <p:cNvSpPr/>
          <p:nvPr/>
        </p:nvSpPr>
        <p:spPr>
          <a:xfrm>
            <a:off x="3476299" y="428625"/>
            <a:ext cx="2511893" cy="189309"/>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0F172A"/>
                </a:solidFill>
                <a:latin typeface="Inter Tight" pitchFamily="34" charset="0"/>
                <a:ea typeface="Inter Tight" pitchFamily="34" charset="-122"/>
                <a:cs typeface="Inter Tight" pitchFamily="34" charset="-120"/>
              </a:rPr>
              <a:t>Structure Relationnelle</a:t>
            </a:r>
            <a:endParaRPr lang="en-US" sz="1090" dirty="0"/>
          </a:p>
        </p:txBody>
      </p:sp>
      <p:sp>
        <p:nvSpPr>
          <p:cNvPr id="8" name="Text 4"/>
          <p:cNvSpPr/>
          <p:nvPr/>
        </p:nvSpPr>
        <p:spPr>
          <a:xfrm>
            <a:off x="3476299" y="675084"/>
            <a:ext cx="2511893" cy="514350"/>
          </a:xfrm>
          <a:prstGeom prst="rect">
            <a:avLst/>
          </a:prstGeom>
          <a:noFill/>
          <a:ln/>
        </p:spPr>
        <p:txBody>
          <a:bodyPr wrap="square" lIns="0" tIns="0" rIns="0" bIns="0" rtlCol="0" anchor="t">
            <a:spAutoFit/>
          </a:bodyPr>
          <a:lstStyle/>
          <a:p>
            <a:pPr algn="l" indent="0" marL="0">
              <a:lnSpc>
                <a:spcPts val="1400"/>
              </a:lnSpc>
              <a:buNone/>
            </a:pPr>
            <a:r>
              <a:rPr lang="en-US" sz="784" b="1" dirty="0">
                <a:solidFill>
                  <a:srgbClr val="334155"/>
                </a:solidFill>
                <a:latin typeface="Inter Tight" pitchFamily="34" charset="0"/>
                <a:ea typeface="Inter Tight" pitchFamily="34" charset="-122"/>
                <a:cs typeface="Inter Tight" pitchFamily="34" charset="-120"/>
              </a:rPr>
              <a:t>Conception de tables PostgreSQL (companies, contacts, leads, tasks) avec relations fortes pour l'intégrité des données.</a:t>
            </a:r>
            <a:endParaRPr lang="en-US" sz="784" dirty="0"/>
          </a:p>
        </p:txBody>
      </p:sp>
      <p:sp>
        <p:nvSpPr>
          <p:cNvPr id="9" name="Text 5"/>
          <p:cNvSpPr/>
          <p:nvPr/>
        </p:nvSpPr>
        <p:spPr>
          <a:xfrm>
            <a:off x="6202505" y="428625"/>
            <a:ext cx="2511921" cy="189309"/>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0F172A"/>
                </a:solidFill>
                <a:latin typeface="Inter Tight" pitchFamily="34" charset="0"/>
                <a:ea typeface="Inter Tight" pitchFamily="34" charset="-122"/>
                <a:cs typeface="Inter Tight" pitchFamily="34" charset="-120"/>
              </a:rPr>
              <a:t>Isolation Multi-tenant</a:t>
            </a:r>
            <a:endParaRPr lang="en-US" sz="1090" dirty="0"/>
          </a:p>
        </p:txBody>
      </p:sp>
      <p:sp>
        <p:nvSpPr>
          <p:cNvPr id="10" name="Text 6"/>
          <p:cNvSpPr/>
          <p:nvPr/>
        </p:nvSpPr>
        <p:spPr>
          <a:xfrm>
            <a:off x="6202505" y="675084"/>
            <a:ext cx="2511921" cy="514350"/>
          </a:xfrm>
          <a:prstGeom prst="rect">
            <a:avLst/>
          </a:prstGeom>
          <a:noFill/>
          <a:ln/>
        </p:spPr>
        <p:txBody>
          <a:bodyPr wrap="square" lIns="0" tIns="0" rIns="0" bIns="0" rtlCol="0" anchor="t">
            <a:spAutoFit/>
          </a:bodyPr>
          <a:lstStyle/>
          <a:p>
            <a:pPr algn="l" indent="0" marL="0">
              <a:lnSpc>
                <a:spcPts val="1400"/>
              </a:lnSpc>
              <a:buNone/>
            </a:pPr>
            <a:r>
              <a:rPr lang="en-US" sz="784" b="1" dirty="0">
                <a:solidFill>
                  <a:srgbClr val="334155"/>
                </a:solidFill>
                <a:latin typeface="Inter Tight" pitchFamily="34" charset="0"/>
                <a:ea typeface="Inter Tight" pitchFamily="34" charset="-122"/>
                <a:cs typeface="Inter Tight" pitchFamily="34" charset="-120"/>
              </a:rPr>
              <a:t>Architecture SaaS garantissant l'étanchéité des données par organisation via des clés étrangères et des vues SQL.</a:t>
            </a:r>
            <a:endParaRPr lang="en-US" sz="784" dirty="0"/>
          </a:p>
        </p:txBody>
      </p:sp>
      <p:sp>
        <p:nvSpPr>
          <p:cNvPr id="11" name="Text 7"/>
          <p:cNvSpPr/>
          <p:nvPr/>
        </p:nvSpPr>
        <p:spPr>
          <a:xfrm>
            <a:off x="3476299" y="1403747"/>
            <a:ext cx="2511893" cy="189309"/>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0F172A"/>
                </a:solidFill>
                <a:latin typeface="Inter Tight" pitchFamily="34" charset="0"/>
                <a:ea typeface="Inter Tight" pitchFamily="34" charset="-122"/>
                <a:cs typeface="Inter Tight" pitchFamily="34" charset="-120"/>
              </a:rPr>
              <a:t>Sécurité PostgreSQL</a:t>
            </a:r>
            <a:endParaRPr lang="en-US" sz="1090" dirty="0"/>
          </a:p>
        </p:txBody>
      </p:sp>
      <p:sp>
        <p:nvSpPr>
          <p:cNvPr id="12" name="Text 8"/>
          <p:cNvSpPr/>
          <p:nvPr/>
        </p:nvSpPr>
        <p:spPr>
          <a:xfrm>
            <a:off x="3476299" y="1650206"/>
            <a:ext cx="2511893" cy="514350"/>
          </a:xfrm>
          <a:prstGeom prst="rect">
            <a:avLst/>
          </a:prstGeom>
          <a:noFill/>
          <a:ln/>
        </p:spPr>
        <p:txBody>
          <a:bodyPr wrap="square" lIns="0" tIns="0" rIns="0" bIns="0" rtlCol="0" anchor="t">
            <a:spAutoFit/>
          </a:bodyPr>
          <a:lstStyle/>
          <a:p>
            <a:pPr algn="l" indent="0" marL="0">
              <a:lnSpc>
                <a:spcPts val="1400"/>
              </a:lnSpc>
              <a:buNone/>
            </a:pPr>
            <a:r>
              <a:rPr lang="en-US" sz="784" b="1" dirty="0">
                <a:solidFill>
                  <a:srgbClr val="334155"/>
                </a:solidFill>
                <a:latin typeface="Inter Tight" pitchFamily="34" charset="0"/>
                <a:ea typeface="Inter Tight" pitchFamily="34" charset="-122"/>
                <a:cs typeface="Inter Tight" pitchFamily="34" charset="-120"/>
              </a:rPr>
              <a:t>Mise en place de politiques Row Level Security (RLS) pour filtrer les accès directement au niveau de la base.</a:t>
            </a:r>
            <a:endParaRPr lang="en-US" sz="784" dirty="0"/>
          </a:p>
        </p:txBody>
      </p:sp>
      <p:sp>
        <p:nvSpPr>
          <p:cNvPr id="13" name="Text 9"/>
          <p:cNvSpPr/>
          <p:nvPr/>
        </p:nvSpPr>
        <p:spPr>
          <a:xfrm>
            <a:off x="6202505" y="1403747"/>
            <a:ext cx="2511921" cy="189309"/>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0F172A"/>
                </a:solidFill>
                <a:latin typeface="Inter Tight" pitchFamily="34" charset="0"/>
                <a:ea typeface="Inter Tight" pitchFamily="34" charset="-122"/>
                <a:cs typeface="Inter Tight" pitchFamily="34" charset="-120"/>
              </a:rPr>
              <a:t>Logique Serverless</a:t>
            </a:r>
            <a:endParaRPr lang="en-US" sz="1090" dirty="0"/>
          </a:p>
        </p:txBody>
      </p:sp>
      <p:sp>
        <p:nvSpPr>
          <p:cNvPr id="14" name="Text 10"/>
          <p:cNvSpPr/>
          <p:nvPr/>
        </p:nvSpPr>
        <p:spPr>
          <a:xfrm>
            <a:off x="6202505" y="1650206"/>
            <a:ext cx="2511921" cy="514350"/>
          </a:xfrm>
          <a:prstGeom prst="rect">
            <a:avLst/>
          </a:prstGeom>
          <a:noFill/>
          <a:ln/>
        </p:spPr>
        <p:txBody>
          <a:bodyPr wrap="square" lIns="0" tIns="0" rIns="0" bIns="0" rtlCol="0" anchor="t">
            <a:spAutoFit/>
          </a:bodyPr>
          <a:lstStyle/>
          <a:p>
            <a:pPr algn="l" indent="0" marL="0">
              <a:lnSpc>
                <a:spcPts val="1400"/>
              </a:lnSpc>
              <a:buNone/>
            </a:pPr>
            <a:r>
              <a:rPr lang="en-US" sz="784" b="1" dirty="0">
                <a:solidFill>
                  <a:srgbClr val="334155"/>
                </a:solidFill>
                <a:latin typeface="Inter Tight" pitchFamily="34" charset="0"/>
                <a:ea typeface="Inter Tight" pitchFamily="34" charset="-122"/>
                <a:cs typeface="Inter Tight" pitchFamily="34" charset="-120"/>
              </a:rPr>
              <a:t>Utilisation des API Routes de Next.js pour orchestrer les interactions entre le frontend et Supabase.</a:t>
            </a:r>
            <a:endParaRPr lang="en-US" sz="784" dirty="0"/>
          </a:p>
        </p:txBody>
      </p:sp>
      <p:sp>
        <p:nvSpPr>
          <p:cNvPr id="15" name="Shape 11"/>
          <p:cNvSpPr/>
          <p:nvPr/>
        </p:nvSpPr>
        <p:spPr>
          <a:xfrm>
            <a:off x="3476299" y="2378869"/>
            <a:ext cx="5238127" cy="2714625"/>
          </a:xfrm>
          <a:prstGeom prst="rect">
            <a:avLst/>
          </a:prstGeom>
          <a:solidFill>
            <a:srgbClr val="FFFFFF"/>
          </a:solidFill>
          <a:ln w="18288">
            <a:solidFill>
              <a:srgbClr val="334155"/>
            </a:solidFill>
            <a:prstDash val="solid"/>
          </a:ln>
        </p:spPr>
      </p:sp>
      <p:pic>
        <p:nvPicPr>
          <p:cNvPr id="16" name="Image 1" descr="preencoded.png">    </p:cNvPr>
          <p:cNvPicPr>
            <a:picLocks noChangeAspect="1"/>
          </p:cNvPicPr>
          <p:nvPr/>
        </p:nvPicPr>
        <p:blipFill>
          <a:blip r:embed="rId2"/>
          <a:stretch>
            <a:fillRect/>
          </a:stretch>
        </p:blipFill>
        <p:spPr>
          <a:xfrm>
            <a:off x="3595036" y="2450306"/>
            <a:ext cx="5000625" cy="25717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3047674" cy="5143500"/>
          </a:xfrm>
          <a:prstGeom prst="rect">
            <a:avLst/>
          </a:prstGeom>
          <a:solidFill>
            <a:srgbClr val="0F172A"/>
          </a:solidFill>
          <a:ln/>
        </p:spPr>
      </p:sp>
      <p:sp>
        <p:nvSpPr>
          <p:cNvPr id="5" name="Text 1"/>
          <p:cNvSpPr/>
          <p:nvPr/>
        </p:nvSpPr>
        <p:spPr>
          <a:xfrm>
            <a:off x="428625" y="2323170"/>
            <a:ext cx="2333299" cy="754335"/>
          </a:xfrm>
          <a:prstGeom prst="rect">
            <a:avLst/>
          </a:prstGeom>
          <a:noFill/>
          <a:ln/>
        </p:spPr>
        <p:txBody>
          <a:bodyPr wrap="square" lIns="0" tIns="0" rIns="0" bIns="0" rtlCol="0" anchor="t">
            <a:spAutoFit/>
          </a:bodyPr>
          <a:lstStyle/>
          <a:p>
            <a:pPr algn="l" indent="0" marL="0">
              <a:lnSpc>
                <a:spcPts val="3000"/>
              </a:lnSpc>
              <a:buNone/>
            </a:pPr>
            <a:r>
              <a:rPr lang="en-US" sz="2436" b="1" dirty="0">
                <a:solidFill>
                  <a:srgbClr val="FFFFFF"/>
                </a:solidFill>
                <a:latin typeface="Inter Tight" pitchFamily="34" charset="0"/>
                <a:ea typeface="Inter Tight" pitchFamily="34" charset="-122"/>
                <a:cs typeface="Inter Tight" pitchFamily="34" charset="-120"/>
              </a:rPr>
              <a:t>Sécurité &amp; Isolation</a:t>
            </a:r>
            <a:endParaRPr lang="en-US" sz="2436" dirty="0"/>
          </a:p>
        </p:txBody>
      </p:sp>
      <p:sp>
        <p:nvSpPr>
          <p:cNvPr id="6" name="Shape 2"/>
          <p:cNvSpPr/>
          <p:nvPr/>
        </p:nvSpPr>
        <p:spPr>
          <a:xfrm>
            <a:off x="3047674" y="0"/>
            <a:ext cx="6095377" cy="5143500"/>
          </a:xfrm>
          <a:prstGeom prst="rect">
            <a:avLst/>
          </a:prstGeom>
          <a:solidFill>
            <a:srgbClr val="F8FAFC"/>
          </a:solidFill>
          <a:ln/>
        </p:spPr>
      </p:sp>
      <p:sp>
        <p:nvSpPr>
          <p:cNvPr id="7" name="Text 3"/>
          <p:cNvSpPr/>
          <p:nvPr/>
        </p:nvSpPr>
        <p:spPr>
          <a:xfrm>
            <a:off x="3476299" y="428625"/>
            <a:ext cx="2511893" cy="189309"/>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0F172A"/>
                </a:solidFill>
                <a:latin typeface="Inter Tight" pitchFamily="34" charset="0"/>
                <a:ea typeface="Inter Tight" pitchFamily="34" charset="-122"/>
                <a:cs typeface="Inter Tight" pitchFamily="34" charset="-120"/>
              </a:rPr>
              <a:t>Supabase Auth</a:t>
            </a:r>
            <a:endParaRPr lang="en-US" sz="1090" dirty="0"/>
          </a:p>
        </p:txBody>
      </p:sp>
      <p:sp>
        <p:nvSpPr>
          <p:cNvPr id="8" name="Text 4"/>
          <p:cNvSpPr/>
          <p:nvPr/>
        </p:nvSpPr>
        <p:spPr>
          <a:xfrm>
            <a:off x="3476299" y="675084"/>
            <a:ext cx="2511893" cy="342900"/>
          </a:xfrm>
          <a:prstGeom prst="rect">
            <a:avLst/>
          </a:prstGeom>
          <a:noFill/>
          <a:ln/>
        </p:spPr>
        <p:txBody>
          <a:bodyPr wrap="square" lIns="0" tIns="0" rIns="0" bIns="0" rtlCol="0" anchor="t">
            <a:spAutoFit/>
          </a:bodyPr>
          <a:lstStyle/>
          <a:p>
            <a:pPr algn="l" indent="0" marL="0">
              <a:lnSpc>
                <a:spcPts val="1400"/>
              </a:lnSpc>
              <a:buNone/>
            </a:pPr>
            <a:r>
              <a:rPr lang="en-US" sz="784" b="1" dirty="0">
                <a:solidFill>
                  <a:srgbClr val="334155"/>
                </a:solidFill>
                <a:latin typeface="Inter Tight" pitchFamily="34" charset="0"/>
                <a:ea typeface="Inter Tight" pitchFamily="34" charset="-122"/>
                <a:cs typeface="Inter Tight" pitchFamily="34" charset="-120"/>
              </a:rPr>
              <a:t>Gestion sécurisée des sessions via JWT. Support natif du signup, login et reset password.</a:t>
            </a:r>
            <a:endParaRPr lang="en-US" sz="784" dirty="0"/>
          </a:p>
        </p:txBody>
      </p:sp>
      <p:sp>
        <p:nvSpPr>
          <p:cNvPr id="9" name="Text 5"/>
          <p:cNvSpPr/>
          <p:nvPr/>
        </p:nvSpPr>
        <p:spPr>
          <a:xfrm>
            <a:off x="6202505" y="428625"/>
            <a:ext cx="2511921" cy="189309"/>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0F172A"/>
                </a:solidFill>
                <a:latin typeface="Inter Tight" pitchFamily="34" charset="0"/>
                <a:ea typeface="Inter Tight" pitchFamily="34" charset="-122"/>
                <a:cs typeface="Inter Tight" pitchFamily="34" charset="-120"/>
              </a:rPr>
              <a:t>Gestion des Rôles</a:t>
            </a:r>
            <a:endParaRPr lang="en-US" sz="1090" dirty="0"/>
          </a:p>
        </p:txBody>
      </p:sp>
      <p:sp>
        <p:nvSpPr>
          <p:cNvPr id="10" name="Text 6"/>
          <p:cNvSpPr/>
          <p:nvPr/>
        </p:nvSpPr>
        <p:spPr>
          <a:xfrm>
            <a:off x="6202505" y="675084"/>
            <a:ext cx="2511921" cy="514350"/>
          </a:xfrm>
          <a:prstGeom prst="rect">
            <a:avLst/>
          </a:prstGeom>
          <a:noFill/>
          <a:ln/>
        </p:spPr>
        <p:txBody>
          <a:bodyPr wrap="square" lIns="0" tIns="0" rIns="0" bIns="0" rtlCol="0" anchor="t">
            <a:spAutoFit/>
          </a:bodyPr>
          <a:lstStyle/>
          <a:p>
            <a:pPr algn="l" indent="0" marL="0">
              <a:lnSpc>
                <a:spcPts val="1400"/>
              </a:lnSpc>
              <a:buNone/>
            </a:pPr>
            <a:r>
              <a:rPr lang="en-US" sz="784" b="1" dirty="0">
                <a:solidFill>
                  <a:srgbClr val="334155"/>
                </a:solidFill>
                <a:latin typeface="Inter Tight" pitchFamily="34" charset="0"/>
                <a:ea typeface="Inter Tight" pitchFamily="34" charset="-122"/>
                <a:cs typeface="Inter Tight" pitchFamily="34" charset="-120"/>
              </a:rPr>
              <a:t>Système de permissions différenciées pour les administrateurs, commerciaux et utilisateurs standards.</a:t>
            </a:r>
            <a:endParaRPr lang="en-US" sz="784" dirty="0"/>
          </a:p>
        </p:txBody>
      </p:sp>
      <p:sp>
        <p:nvSpPr>
          <p:cNvPr id="11" name="Text 7"/>
          <p:cNvSpPr/>
          <p:nvPr/>
        </p:nvSpPr>
        <p:spPr>
          <a:xfrm>
            <a:off x="3476299" y="1403747"/>
            <a:ext cx="2511893" cy="189309"/>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0F172A"/>
                </a:solidFill>
                <a:latin typeface="Inter Tight" pitchFamily="34" charset="0"/>
                <a:ea typeface="Inter Tight" pitchFamily="34" charset="-122"/>
                <a:cs typeface="Inter Tight" pitchFamily="34" charset="-120"/>
              </a:rPr>
              <a:t>Validation SSR</a:t>
            </a:r>
            <a:endParaRPr lang="en-US" sz="1090" dirty="0"/>
          </a:p>
        </p:txBody>
      </p:sp>
      <p:sp>
        <p:nvSpPr>
          <p:cNvPr id="12" name="Text 8"/>
          <p:cNvSpPr/>
          <p:nvPr/>
        </p:nvSpPr>
        <p:spPr>
          <a:xfrm>
            <a:off x="3476299" y="1650206"/>
            <a:ext cx="2511893" cy="342900"/>
          </a:xfrm>
          <a:prstGeom prst="rect">
            <a:avLst/>
          </a:prstGeom>
          <a:noFill/>
          <a:ln/>
        </p:spPr>
        <p:txBody>
          <a:bodyPr wrap="square" lIns="0" tIns="0" rIns="0" bIns="0" rtlCol="0" anchor="t">
            <a:spAutoFit/>
          </a:bodyPr>
          <a:lstStyle/>
          <a:p>
            <a:pPr algn="l" indent="0" marL="0">
              <a:lnSpc>
                <a:spcPts val="1400"/>
              </a:lnSpc>
              <a:buNone/>
            </a:pPr>
            <a:r>
              <a:rPr lang="en-US" sz="784" b="1" dirty="0">
                <a:solidFill>
                  <a:srgbClr val="334155"/>
                </a:solidFill>
                <a:latin typeface="Inter Tight" pitchFamily="34" charset="0"/>
                <a:ea typeface="Inter Tight" pitchFamily="34" charset="-122"/>
                <a:cs typeface="Inter Tight" pitchFamily="34" charset="-120"/>
              </a:rPr>
              <a:t>Vérification systématique des droits d'accès côté serveur pour protéger les routes sensibles.</a:t>
            </a:r>
            <a:endParaRPr lang="en-US" sz="784" dirty="0"/>
          </a:p>
        </p:txBody>
      </p:sp>
      <p:sp>
        <p:nvSpPr>
          <p:cNvPr id="13" name="Text 9"/>
          <p:cNvSpPr/>
          <p:nvPr/>
        </p:nvSpPr>
        <p:spPr>
          <a:xfrm>
            <a:off x="6202505" y="1403747"/>
            <a:ext cx="2511921" cy="189309"/>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0F172A"/>
                </a:solidFill>
                <a:latin typeface="Inter Tight" pitchFamily="34" charset="0"/>
                <a:ea typeface="Inter Tight" pitchFamily="34" charset="-122"/>
                <a:cs typeface="Inter Tight" pitchFamily="34" charset="-120"/>
              </a:rPr>
              <a:t>Isolation Multi-tenant</a:t>
            </a:r>
            <a:endParaRPr lang="en-US" sz="1090" dirty="0"/>
          </a:p>
        </p:txBody>
      </p:sp>
      <p:sp>
        <p:nvSpPr>
          <p:cNvPr id="14" name="Text 10"/>
          <p:cNvSpPr/>
          <p:nvPr/>
        </p:nvSpPr>
        <p:spPr>
          <a:xfrm>
            <a:off x="6202505" y="1650206"/>
            <a:ext cx="2511921" cy="514350"/>
          </a:xfrm>
          <a:prstGeom prst="rect">
            <a:avLst/>
          </a:prstGeom>
          <a:noFill/>
          <a:ln/>
        </p:spPr>
        <p:txBody>
          <a:bodyPr wrap="square" lIns="0" tIns="0" rIns="0" bIns="0" rtlCol="0" anchor="t">
            <a:spAutoFit/>
          </a:bodyPr>
          <a:lstStyle/>
          <a:p>
            <a:pPr algn="l" indent="0" marL="0">
              <a:lnSpc>
                <a:spcPts val="1400"/>
              </a:lnSpc>
              <a:buNone/>
            </a:pPr>
            <a:r>
              <a:rPr lang="en-US" sz="784" b="1" dirty="0">
                <a:solidFill>
                  <a:srgbClr val="334155"/>
                </a:solidFill>
                <a:latin typeface="Inter Tight" pitchFamily="34" charset="0"/>
                <a:ea typeface="Inter Tight" pitchFamily="34" charset="-122"/>
                <a:cs typeface="Inter Tight" pitchFamily="34" charset="-120"/>
              </a:rPr>
              <a:t>Row Level Security (RLS) garantissant l'étanchéité totale des données entre les organisations.</a:t>
            </a:r>
            <a:endParaRPr lang="en-US" sz="784" dirty="0"/>
          </a:p>
        </p:txBody>
      </p:sp>
      <p:sp>
        <p:nvSpPr>
          <p:cNvPr id="15" name="Shape 11"/>
          <p:cNvSpPr/>
          <p:nvPr/>
        </p:nvSpPr>
        <p:spPr>
          <a:xfrm>
            <a:off x="3476299" y="2378869"/>
            <a:ext cx="5238127" cy="2714625"/>
          </a:xfrm>
          <a:prstGeom prst="rect">
            <a:avLst/>
          </a:prstGeom>
          <a:solidFill>
            <a:srgbClr val="FFFFFF"/>
          </a:solidFill>
          <a:ln w="18288">
            <a:solidFill>
              <a:srgbClr val="334155"/>
            </a:solidFill>
            <a:prstDash val="solid"/>
          </a:ln>
        </p:spPr>
      </p:sp>
      <p:pic>
        <p:nvPicPr>
          <p:cNvPr id="16" name="Image 1" descr="preencoded.png">    </p:cNvPr>
          <p:cNvPicPr>
            <a:picLocks noChangeAspect="1"/>
          </p:cNvPicPr>
          <p:nvPr/>
        </p:nvPicPr>
        <p:blipFill>
          <a:blip r:embed="rId2"/>
          <a:stretch>
            <a:fillRect/>
          </a:stretch>
        </p:blipFill>
        <p:spPr>
          <a:xfrm>
            <a:off x="3595036" y="2450306"/>
            <a:ext cx="5000625" cy="25717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3047674" cy="5143500"/>
          </a:xfrm>
          <a:prstGeom prst="rect">
            <a:avLst/>
          </a:prstGeom>
          <a:solidFill>
            <a:srgbClr val="0F172A"/>
          </a:solidFill>
          <a:ln/>
        </p:spPr>
      </p:sp>
      <p:sp>
        <p:nvSpPr>
          <p:cNvPr id="5" name="Text 1"/>
          <p:cNvSpPr/>
          <p:nvPr/>
        </p:nvSpPr>
        <p:spPr>
          <a:xfrm>
            <a:off x="428625" y="2134586"/>
            <a:ext cx="2333299" cy="1131503"/>
          </a:xfrm>
          <a:prstGeom prst="rect">
            <a:avLst/>
          </a:prstGeom>
          <a:noFill/>
          <a:ln/>
        </p:spPr>
        <p:txBody>
          <a:bodyPr wrap="square" lIns="0" tIns="0" rIns="0" bIns="0" rtlCol="0" anchor="t">
            <a:spAutoFit/>
          </a:bodyPr>
          <a:lstStyle/>
          <a:p>
            <a:pPr algn="l" indent="0" marL="0">
              <a:lnSpc>
                <a:spcPts val="3000"/>
              </a:lnSpc>
              <a:buNone/>
            </a:pPr>
            <a:r>
              <a:rPr lang="en-US" sz="2436" b="1" dirty="0">
                <a:solidFill>
                  <a:srgbClr val="FFFFFF"/>
                </a:solidFill>
                <a:latin typeface="Inter Tight" pitchFamily="34" charset="0"/>
                <a:ea typeface="Inter Tight" pitchFamily="34" charset="-122"/>
                <a:cs typeface="Inter Tight" pitchFamily="34" charset="-120"/>
              </a:rPr>
              <a:t>Gestion des Données Métiers</a:t>
            </a:r>
            <a:endParaRPr lang="en-US" sz="2436" dirty="0"/>
          </a:p>
        </p:txBody>
      </p:sp>
      <p:sp>
        <p:nvSpPr>
          <p:cNvPr id="6" name="Shape 2"/>
          <p:cNvSpPr/>
          <p:nvPr/>
        </p:nvSpPr>
        <p:spPr>
          <a:xfrm>
            <a:off x="3047674" y="0"/>
            <a:ext cx="6095377" cy="5143500"/>
          </a:xfrm>
          <a:prstGeom prst="rect">
            <a:avLst/>
          </a:prstGeom>
          <a:solidFill>
            <a:srgbClr val="F8FAFC"/>
          </a:solidFill>
          <a:ln/>
        </p:spPr>
      </p:sp>
      <p:sp>
        <p:nvSpPr>
          <p:cNvPr id="7" name="Text 3"/>
          <p:cNvSpPr/>
          <p:nvPr/>
        </p:nvSpPr>
        <p:spPr>
          <a:xfrm>
            <a:off x="3476299" y="428625"/>
            <a:ext cx="2511893" cy="189309"/>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0F172A"/>
                </a:solidFill>
                <a:latin typeface="Inter Tight" pitchFamily="34" charset="0"/>
                <a:ea typeface="Inter Tight" pitchFamily="34" charset="-122"/>
                <a:cs typeface="Inter Tight" pitchFamily="34" charset="-120"/>
              </a:rPr>
              <a:t>CRM Complet</a:t>
            </a:r>
            <a:endParaRPr lang="en-US" sz="1090" dirty="0"/>
          </a:p>
        </p:txBody>
      </p:sp>
      <p:sp>
        <p:nvSpPr>
          <p:cNvPr id="8" name="Text 4"/>
          <p:cNvSpPr/>
          <p:nvPr/>
        </p:nvSpPr>
        <p:spPr>
          <a:xfrm>
            <a:off x="3476299" y="675084"/>
            <a:ext cx="2511893" cy="514350"/>
          </a:xfrm>
          <a:prstGeom prst="rect">
            <a:avLst/>
          </a:prstGeom>
          <a:noFill/>
          <a:ln/>
        </p:spPr>
        <p:txBody>
          <a:bodyPr wrap="square" lIns="0" tIns="0" rIns="0" bIns="0" rtlCol="0" anchor="t">
            <a:spAutoFit/>
          </a:bodyPr>
          <a:lstStyle/>
          <a:p>
            <a:pPr algn="l" indent="0" marL="0">
              <a:lnSpc>
                <a:spcPts val="1400"/>
              </a:lnSpc>
              <a:buNone/>
            </a:pPr>
            <a:r>
              <a:rPr lang="en-US" sz="784" b="1" dirty="0">
                <a:solidFill>
                  <a:srgbClr val="334155"/>
                </a:solidFill>
                <a:latin typeface="Inter Tight" pitchFamily="34" charset="0"/>
                <a:ea typeface="Inter Tight" pitchFamily="34" charset="-122"/>
                <a:cs typeface="Inter Tight" pitchFamily="34" charset="-120"/>
              </a:rPr>
              <a:t>Gestion agile (CRUD) des fiches clients, entreprises et prospects au sein d'une interface unifiée.</a:t>
            </a:r>
            <a:endParaRPr lang="en-US" sz="784" dirty="0"/>
          </a:p>
        </p:txBody>
      </p:sp>
      <p:sp>
        <p:nvSpPr>
          <p:cNvPr id="9" name="Text 5"/>
          <p:cNvSpPr/>
          <p:nvPr/>
        </p:nvSpPr>
        <p:spPr>
          <a:xfrm>
            <a:off x="6202505" y="428625"/>
            <a:ext cx="2511921" cy="189309"/>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0F172A"/>
                </a:solidFill>
                <a:latin typeface="Inter Tight" pitchFamily="34" charset="0"/>
                <a:ea typeface="Inter Tight" pitchFamily="34" charset="-122"/>
                <a:cs typeface="Inter Tight" pitchFamily="34" charset="-120"/>
              </a:rPr>
              <a:t>Relations Métiers</a:t>
            </a:r>
            <a:endParaRPr lang="en-US" sz="1090" dirty="0"/>
          </a:p>
        </p:txBody>
      </p:sp>
      <p:sp>
        <p:nvSpPr>
          <p:cNvPr id="10" name="Text 6"/>
          <p:cNvSpPr/>
          <p:nvPr/>
        </p:nvSpPr>
        <p:spPr>
          <a:xfrm>
            <a:off x="6202505" y="675084"/>
            <a:ext cx="2511921" cy="342900"/>
          </a:xfrm>
          <a:prstGeom prst="rect">
            <a:avLst/>
          </a:prstGeom>
          <a:noFill/>
          <a:ln/>
        </p:spPr>
        <p:txBody>
          <a:bodyPr wrap="square" lIns="0" tIns="0" rIns="0" bIns="0" rtlCol="0" anchor="t">
            <a:spAutoFit/>
          </a:bodyPr>
          <a:lstStyle/>
          <a:p>
            <a:pPr algn="l" indent="0" marL="0">
              <a:lnSpc>
                <a:spcPts val="1400"/>
              </a:lnSpc>
              <a:buNone/>
            </a:pPr>
            <a:r>
              <a:rPr lang="en-US" sz="784" b="1" dirty="0">
                <a:solidFill>
                  <a:srgbClr val="334155"/>
                </a:solidFill>
                <a:latin typeface="Inter Tight" pitchFamily="34" charset="0"/>
                <a:ea typeface="Inter Tight" pitchFamily="34" charset="-122"/>
                <a:cs typeface="Inter Tight" pitchFamily="34" charset="-120"/>
              </a:rPr>
              <a:t>Association intelligente entre les contacts et leurs entreprises pour une vision 360° du client.</a:t>
            </a:r>
            <a:endParaRPr lang="en-US" sz="784" dirty="0"/>
          </a:p>
        </p:txBody>
      </p:sp>
      <p:sp>
        <p:nvSpPr>
          <p:cNvPr id="11" name="Text 7"/>
          <p:cNvSpPr/>
          <p:nvPr/>
        </p:nvSpPr>
        <p:spPr>
          <a:xfrm>
            <a:off x="3476299" y="1403747"/>
            <a:ext cx="2511893" cy="189309"/>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0F172A"/>
                </a:solidFill>
                <a:latin typeface="Inter Tight" pitchFamily="34" charset="0"/>
                <a:ea typeface="Inter Tight" pitchFamily="34" charset="-122"/>
                <a:cs typeface="Inter Tight" pitchFamily="34" charset="-120"/>
              </a:rPr>
              <a:t>Suivi des Leads</a:t>
            </a:r>
            <a:endParaRPr lang="en-US" sz="1090" dirty="0"/>
          </a:p>
        </p:txBody>
      </p:sp>
      <p:sp>
        <p:nvSpPr>
          <p:cNvPr id="12" name="Text 8"/>
          <p:cNvSpPr/>
          <p:nvPr/>
        </p:nvSpPr>
        <p:spPr>
          <a:xfrm>
            <a:off x="3476299" y="1650206"/>
            <a:ext cx="2511893" cy="342900"/>
          </a:xfrm>
          <a:prstGeom prst="rect">
            <a:avLst/>
          </a:prstGeom>
          <a:noFill/>
          <a:ln/>
        </p:spPr>
        <p:txBody>
          <a:bodyPr wrap="square" lIns="0" tIns="0" rIns="0" bIns="0" rtlCol="0" anchor="t">
            <a:spAutoFit/>
          </a:bodyPr>
          <a:lstStyle/>
          <a:p>
            <a:pPr algn="l" indent="0" marL="0">
              <a:lnSpc>
                <a:spcPts val="1400"/>
              </a:lnSpc>
              <a:buNone/>
            </a:pPr>
            <a:r>
              <a:rPr lang="en-US" sz="784" b="1" dirty="0">
                <a:solidFill>
                  <a:srgbClr val="334155"/>
                </a:solidFill>
                <a:latin typeface="Inter Tight" pitchFamily="34" charset="0"/>
                <a:ea typeface="Inter Tight" pitchFamily="34" charset="-122"/>
                <a:cs typeface="Inter Tight" pitchFamily="34" charset="-120"/>
              </a:rPr>
              <a:t>Historique détaillé des interactions, attribution commerciale et suivi rigoureux des opportunités.</a:t>
            </a:r>
            <a:endParaRPr lang="en-US" sz="784" dirty="0"/>
          </a:p>
        </p:txBody>
      </p:sp>
      <p:sp>
        <p:nvSpPr>
          <p:cNvPr id="13" name="Text 9"/>
          <p:cNvSpPr/>
          <p:nvPr/>
        </p:nvSpPr>
        <p:spPr>
          <a:xfrm>
            <a:off x="6202505" y="1403747"/>
            <a:ext cx="2511921" cy="189309"/>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0F172A"/>
                </a:solidFill>
                <a:latin typeface="Inter Tight" pitchFamily="34" charset="0"/>
                <a:ea typeface="Inter Tight" pitchFamily="34" charset="-122"/>
                <a:cs typeface="Inter Tight" pitchFamily="34" charset="-120"/>
              </a:rPr>
              <a:t>Recherche &amp; Filtres</a:t>
            </a:r>
            <a:endParaRPr lang="en-US" sz="1090" dirty="0"/>
          </a:p>
        </p:txBody>
      </p:sp>
      <p:sp>
        <p:nvSpPr>
          <p:cNvPr id="14" name="Text 10"/>
          <p:cNvSpPr/>
          <p:nvPr/>
        </p:nvSpPr>
        <p:spPr>
          <a:xfrm>
            <a:off x="6202505" y="1650206"/>
            <a:ext cx="2511921" cy="514350"/>
          </a:xfrm>
          <a:prstGeom prst="rect">
            <a:avLst/>
          </a:prstGeom>
          <a:noFill/>
          <a:ln/>
        </p:spPr>
        <p:txBody>
          <a:bodyPr wrap="square" lIns="0" tIns="0" rIns="0" bIns="0" rtlCol="0" anchor="t">
            <a:spAutoFit/>
          </a:bodyPr>
          <a:lstStyle/>
          <a:p>
            <a:pPr algn="l" indent="0" marL="0">
              <a:lnSpc>
                <a:spcPts val="1400"/>
              </a:lnSpc>
              <a:buNone/>
            </a:pPr>
            <a:r>
              <a:rPr lang="en-US" sz="784" b="1" dirty="0">
                <a:solidFill>
                  <a:srgbClr val="334155"/>
                </a:solidFill>
                <a:latin typeface="Inter Tight" pitchFamily="34" charset="0"/>
                <a:ea typeface="Inter Tight" pitchFamily="34" charset="-122"/>
                <a:cs typeface="Inter Tight" pitchFamily="34" charset="-120"/>
              </a:rPr>
              <a:t>Système de recherche globale et filtres dynamiques pour une exploitation rapide de la base de données.</a:t>
            </a:r>
            <a:endParaRPr lang="en-US" sz="784" dirty="0"/>
          </a:p>
        </p:txBody>
      </p:sp>
      <p:sp>
        <p:nvSpPr>
          <p:cNvPr id="15" name="Shape 11"/>
          <p:cNvSpPr/>
          <p:nvPr/>
        </p:nvSpPr>
        <p:spPr>
          <a:xfrm>
            <a:off x="3476299" y="2378869"/>
            <a:ext cx="5238127" cy="2714625"/>
          </a:xfrm>
          <a:prstGeom prst="rect">
            <a:avLst/>
          </a:prstGeom>
          <a:solidFill>
            <a:srgbClr val="FFFFFF"/>
          </a:solidFill>
          <a:ln w="18288">
            <a:solidFill>
              <a:srgbClr val="334155"/>
            </a:solidFill>
            <a:prstDash val="solid"/>
          </a:ln>
        </p:spPr>
      </p:sp>
      <p:pic>
        <p:nvPicPr>
          <p:cNvPr id="16" name="Image 1" descr="preencoded.png">    </p:cNvPr>
          <p:cNvPicPr>
            <a:picLocks noChangeAspect="1"/>
          </p:cNvPicPr>
          <p:nvPr/>
        </p:nvPicPr>
        <p:blipFill>
          <a:blip r:embed="rId2"/>
          <a:stretch>
            <a:fillRect/>
          </a:stretch>
        </p:blipFill>
        <p:spPr>
          <a:xfrm>
            <a:off x="3595036" y="2450306"/>
            <a:ext cx="5000625" cy="25717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3047674" cy="5143500"/>
          </a:xfrm>
          <a:prstGeom prst="rect">
            <a:avLst/>
          </a:prstGeom>
          <a:solidFill>
            <a:srgbClr val="0F172A"/>
          </a:solidFill>
          <a:ln/>
        </p:spPr>
      </p:sp>
      <p:sp>
        <p:nvSpPr>
          <p:cNvPr id="5" name="Text 1"/>
          <p:cNvSpPr/>
          <p:nvPr/>
        </p:nvSpPr>
        <p:spPr>
          <a:xfrm>
            <a:off x="428625" y="2134586"/>
            <a:ext cx="2333299" cy="1131503"/>
          </a:xfrm>
          <a:prstGeom prst="rect">
            <a:avLst/>
          </a:prstGeom>
          <a:noFill/>
          <a:ln/>
        </p:spPr>
        <p:txBody>
          <a:bodyPr wrap="square" lIns="0" tIns="0" rIns="0" bIns="0" rtlCol="0" anchor="t">
            <a:spAutoFit/>
          </a:bodyPr>
          <a:lstStyle/>
          <a:p>
            <a:pPr algn="l" indent="0" marL="0">
              <a:lnSpc>
                <a:spcPts val="3000"/>
              </a:lnSpc>
              <a:buNone/>
            </a:pPr>
            <a:r>
              <a:rPr lang="en-US" sz="2436" b="1" dirty="0">
                <a:solidFill>
                  <a:srgbClr val="FFFFFF"/>
                </a:solidFill>
                <a:latin typeface="Inter Tight" pitchFamily="34" charset="0"/>
                <a:ea typeface="Inter Tight" pitchFamily="34" charset="-122"/>
                <a:cs typeface="Inter Tight" pitchFamily="34" charset="-120"/>
              </a:rPr>
              <a:t>Pipeline &amp; Gestion des Tâches</a:t>
            </a:r>
            <a:endParaRPr lang="en-US" sz="2436" dirty="0"/>
          </a:p>
        </p:txBody>
      </p:sp>
      <p:sp>
        <p:nvSpPr>
          <p:cNvPr id="6" name="Shape 2"/>
          <p:cNvSpPr/>
          <p:nvPr/>
        </p:nvSpPr>
        <p:spPr>
          <a:xfrm>
            <a:off x="3047674" y="0"/>
            <a:ext cx="6095377" cy="5143500"/>
          </a:xfrm>
          <a:prstGeom prst="rect">
            <a:avLst/>
          </a:prstGeom>
          <a:solidFill>
            <a:srgbClr val="F8FAFC"/>
          </a:solidFill>
          <a:ln/>
        </p:spPr>
      </p:sp>
      <p:sp>
        <p:nvSpPr>
          <p:cNvPr id="7" name="Shape 3"/>
          <p:cNvSpPr/>
          <p:nvPr/>
        </p:nvSpPr>
        <p:spPr>
          <a:xfrm>
            <a:off x="3476299" y="428625"/>
            <a:ext cx="5238127" cy="2714625"/>
          </a:xfrm>
          <a:prstGeom prst="rect">
            <a:avLst/>
          </a:prstGeom>
          <a:solidFill>
            <a:srgbClr val="FFFFFF"/>
          </a:solidFill>
          <a:ln w="18288">
            <a:solidFill>
              <a:srgbClr val="334155"/>
            </a:solidFill>
            <a:prstDash val="solid"/>
          </a:ln>
        </p:spPr>
      </p:sp>
      <p:pic>
        <p:nvPicPr>
          <p:cNvPr id="8" name="Image 1" descr="preencoded.png">    </p:cNvPr>
          <p:cNvPicPr>
            <a:picLocks noChangeAspect="1"/>
          </p:cNvPicPr>
          <p:nvPr/>
        </p:nvPicPr>
        <p:blipFill>
          <a:blip r:embed="rId2"/>
          <a:stretch>
            <a:fillRect/>
          </a:stretch>
        </p:blipFill>
        <p:spPr>
          <a:xfrm>
            <a:off x="3595036" y="500063"/>
            <a:ext cx="5000625" cy="2571750"/>
          </a:xfrm>
          <a:prstGeom prst="rect">
            <a:avLst/>
          </a:prstGeom>
        </p:spPr>
      </p:pic>
      <p:sp>
        <p:nvSpPr>
          <p:cNvPr id="9" name="Text 4"/>
          <p:cNvSpPr/>
          <p:nvPr/>
        </p:nvSpPr>
        <p:spPr>
          <a:xfrm>
            <a:off x="3476299" y="3357563"/>
            <a:ext cx="2511893" cy="189309"/>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0F172A"/>
                </a:solidFill>
                <a:latin typeface="Inter Tight" pitchFamily="34" charset="0"/>
                <a:ea typeface="Inter Tight" pitchFamily="34" charset="-122"/>
                <a:cs typeface="Inter Tight" pitchFamily="34" charset="-120"/>
              </a:rPr>
              <a:t>Vue Kanban</a:t>
            </a:r>
            <a:endParaRPr lang="en-US" sz="1090" dirty="0"/>
          </a:p>
        </p:txBody>
      </p:sp>
      <p:sp>
        <p:nvSpPr>
          <p:cNvPr id="10" name="Text 5"/>
          <p:cNvSpPr/>
          <p:nvPr/>
        </p:nvSpPr>
        <p:spPr>
          <a:xfrm>
            <a:off x="3476299" y="3604022"/>
            <a:ext cx="2511893" cy="342900"/>
          </a:xfrm>
          <a:prstGeom prst="rect">
            <a:avLst/>
          </a:prstGeom>
          <a:noFill/>
          <a:ln/>
        </p:spPr>
        <p:txBody>
          <a:bodyPr wrap="square" lIns="0" tIns="0" rIns="0" bIns="0" rtlCol="0" anchor="t">
            <a:spAutoFit/>
          </a:bodyPr>
          <a:lstStyle/>
          <a:p>
            <a:pPr algn="l" indent="0" marL="0">
              <a:lnSpc>
                <a:spcPts val="1400"/>
              </a:lnSpc>
              <a:buNone/>
            </a:pPr>
            <a:r>
              <a:rPr lang="en-US" sz="784" b="1" dirty="0">
                <a:solidFill>
                  <a:srgbClr val="334155"/>
                </a:solidFill>
                <a:latin typeface="Inter Tight" pitchFamily="34" charset="0"/>
                <a:ea typeface="Inter Tight" pitchFamily="34" charset="-122"/>
                <a:cs typeface="Inter Tight" pitchFamily="34" charset="-120"/>
              </a:rPr>
              <a:t>Organisation visuelle du tunnel de vente pour une clarté immédiate sur l'état des opportunités.</a:t>
            </a:r>
            <a:endParaRPr lang="en-US" sz="784" dirty="0"/>
          </a:p>
        </p:txBody>
      </p:sp>
      <p:sp>
        <p:nvSpPr>
          <p:cNvPr id="11" name="Text 6"/>
          <p:cNvSpPr/>
          <p:nvPr/>
        </p:nvSpPr>
        <p:spPr>
          <a:xfrm>
            <a:off x="6202505" y="3357563"/>
            <a:ext cx="2511921" cy="189309"/>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0F172A"/>
                </a:solidFill>
                <a:latin typeface="Inter Tight" pitchFamily="34" charset="0"/>
                <a:ea typeface="Inter Tight" pitchFamily="34" charset="-122"/>
                <a:cs typeface="Inter Tight" pitchFamily="34" charset="-120"/>
              </a:rPr>
              <a:t>Drag &amp; Drop</a:t>
            </a:r>
            <a:endParaRPr lang="en-US" sz="1090" dirty="0"/>
          </a:p>
        </p:txBody>
      </p:sp>
      <p:sp>
        <p:nvSpPr>
          <p:cNvPr id="12" name="Text 7"/>
          <p:cNvSpPr/>
          <p:nvPr/>
        </p:nvSpPr>
        <p:spPr>
          <a:xfrm>
            <a:off x="6202505" y="3604022"/>
            <a:ext cx="2511921" cy="342900"/>
          </a:xfrm>
          <a:prstGeom prst="rect">
            <a:avLst/>
          </a:prstGeom>
          <a:noFill/>
          <a:ln/>
        </p:spPr>
        <p:txBody>
          <a:bodyPr wrap="square" lIns="0" tIns="0" rIns="0" bIns="0" rtlCol="0" anchor="t">
            <a:spAutoFit/>
          </a:bodyPr>
          <a:lstStyle/>
          <a:p>
            <a:pPr algn="l" indent="0" marL="0">
              <a:lnSpc>
                <a:spcPts val="1400"/>
              </a:lnSpc>
              <a:buNone/>
            </a:pPr>
            <a:r>
              <a:rPr lang="en-US" sz="784" b="1" dirty="0">
                <a:solidFill>
                  <a:srgbClr val="334155"/>
                </a:solidFill>
                <a:latin typeface="Inter Tight" pitchFamily="34" charset="0"/>
                <a:ea typeface="Inter Tight" pitchFamily="34" charset="-122"/>
                <a:cs typeface="Inter Tight" pitchFamily="34" charset="-120"/>
              </a:rPr>
              <a:t>Changement de statut intuitif permettant de faire progresser les leads dans le cycle de vente.</a:t>
            </a:r>
            <a:endParaRPr lang="en-US" sz="784" dirty="0"/>
          </a:p>
        </p:txBody>
      </p:sp>
      <p:sp>
        <p:nvSpPr>
          <p:cNvPr id="13" name="Text 8"/>
          <p:cNvSpPr/>
          <p:nvPr/>
        </p:nvSpPr>
        <p:spPr>
          <a:xfrm>
            <a:off x="3476299" y="4161234"/>
            <a:ext cx="2511893" cy="189309"/>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0F172A"/>
                </a:solidFill>
                <a:latin typeface="Inter Tight" pitchFamily="34" charset="0"/>
                <a:ea typeface="Inter Tight" pitchFamily="34" charset="-122"/>
                <a:cs typeface="Inter Tight" pitchFamily="34" charset="-120"/>
              </a:rPr>
              <a:t>Productivité</a:t>
            </a:r>
            <a:endParaRPr lang="en-US" sz="1090" dirty="0"/>
          </a:p>
        </p:txBody>
      </p:sp>
      <p:sp>
        <p:nvSpPr>
          <p:cNvPr id="14" name="Text 9"/>
          <p:cNvSpPr/>
          <p:nvPr/>
        </p:nvSpPr>
        <p:spPr>
          <a:xfrm>
            <a:off x="3476299" y="4407694"/>
            <a:ext cx="2511893" cy="342900"/>
          </a:xfrm>
          <a:prstGeom prst="rect">
            <a:avLst/>
          </a:prstGeom>
          <a:noFill/>
          <a:ln/>
        </p:spPr>
        <p:txBody>
          <a:bodyPr wrap="square" lIns="0" tIns="0" rIns="0" bIns="0" rtlCol="0" anchor="t">
            <a:spAutoFit/>
          </a:bodyPr>
          <a:lstStyle/>
          <a:p>
            <a:pPr algn="l" indent="0" marL="0">
              <a:lnSpc>
                <a:spcPts val="1400"/>
              </a:lnSpc>
              <a:buNone/>
            </a:pPr>
            <a:r>
              <a:rPr lang="en-US" sz="784" b="1" dirty="0">
                <a:solidFill>
                  <a:srgbClr val="334155"/>
                </a:solidFill>
                <a:latin typeface="Inter Tight" pitchFamily="34" charset="0"/>
                <a:ea typeface="Inter Tight" pitchFamily="34" charset="-122"/>
                <a:cs typeface="Inter Tight" pitchFamily="34" charset="-120"/>
              </a:rPr>
              <a:t>Création de tâches, rappels et planification intégrée pour ne manquer aucune relance.</a:t>
            </a:r>
            <a:endParaRPr lang="en-US" sz="784" dirty="0"/>
          </a:p>
        </p:txBody>
      </p:sp>
      <p:sp>
        <p:nvSpPr>
          <p:cNvPr id="15" name="Text 10"/>
          <p:cNvSpPr/>
          <p:nvPr/>
        </p:nvSpPr>
        <p:spPr>
          <a:xfrm>
            <a:off x="6202505" y="4161234"/>
            <a:ext cx="2511921" cy="189309"/>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0F172A"/>
                </a:solidFill>
                <a:latin typeface="Inter Tight" pitchFamily="34" charset="0"/>
                <a:ea typeface="Inter Tight" pitchFamily="34" charset="-122"/>
                <a:cs typeface="Inter Tight" pitchFamily="34" charset="-120"/>
              </a:rPr>
              <a:t>Réactivité</a:t>
            </a:r>
            <a:endParaRPr lang="en-US" sz="1090" dirty="0"/>
          </a:p>
        </p:txBody>
      </p:sp>
      <p:sp>
        <p:nvSpPr>
          <p:cNvPr id="16" name="Text 11"/>
          <p:cNvSpPr/>
          <p:nvPr/>
        </p:nvSpPr>
        <p:spPr>
          <a:xfrm>
            <a:off x="6202505" y="4407694"/>
            <a:ext cx="2511921" cy="342900"/>
          </a:xfrm>
          <a:prstGeom prst="rect">
            <a:avLst/>
          </a:prstGeom>
          <a:noFill/>
          <a:ln/>
        </p:spPr>
        <p:txBody>
          <a:bodyPr wrap="square" lIns="0" tIns="0" rIns="0" bIns="0" rtlCol="0" anchor="t">
            <a:spAutoFit/>
          </a:bodyPr>
          <a:lstStyle/>
          <a:p>
            <a:pPr algn="l" indent="0" marL="0">
              <a:lnSpc>
                <a:spcPts val="1400"/>
              </a:lnSpc>
              <a:buNone/>
            </a:pPr>
            <a:r>
              <a:rPr lang="en-US" sz="784" b="1" dirty="0">
                <a:solidFill>
                  <a:srgbClr val="334155"/>
                </a:solidFill>
                <a:latin typeface="Inter Tight" pitchFamily="34" charset="0"/>
                <a:ea typeface="Inter Tight" pitchFamily="34" charset="-122"/>
                <a:cs typeface="Inter Tight" pitchFamily="34" charset="-120"/>
              </a:rPr>
              <a:t>Notifications des échéances pour assurer un suivi rigoureux des étapes du cycle de vente.</a:t>
            </a:r>
            <a:endParaRPr lang="en-US" sz="784"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3047674" cy="5143500"/>
          </a:xfrm>
          <a:prstGeom prst="rect">
            <a:avLst/>
          </a:prstGeom>
          <a:solidFill>
            <a:srgbClr val="0F172A"/>
          </a:solidFill>
          <a:ln/>
        </p:spPr>
      </p:sp>
      <p:sp>
        <p:nvSpPr>
          <p:cNvPr id="5" name="Text 1"/>
          <p:cNvSpPr/>
          <p:nvPr/>
        </p:nvSpPr>
        <p:spPr>
          <a:xfrm>
            <a:off x="428625" y="2323170"/>
            <a:ext cx="2333299" cy="754335"/>
          </a:xfrm>
          <a:prstGeom prst="rect">
            <a:avLst/>
          </a:prstGeom>
          <a:noFill/>
          <a:ln/>
        </p:spPr>
        <p:txBody>
          <a:bodyPr wrap="square" lIns="0" tIns="0" rIns="0" bIns="0" rtlCol="0" anchor="t">
            <a:spAutoFit/>
          </a:bodyPr>
          <a:lstStyle/>
          <a:p>
            <a:pPr algn="l" indent="0" marL="0">
              <a:lnSpc>
                <a:spcPts val="3000"/>
              </a:lnSpc>
              <a:buNone/>
            </a:pPr>
            <a:r>
              <a:rPr lang="en-US" sz="2436" b="1" dirty="0">
                <a:solidFill>
                  <a:srgbClr val="FFFFFF"/>
                </a:solidFill>
                <a:latin typeface="Inter Tight" pitchFamily="34" charset="0"/>
                <a:ea typeface="Inter Tight" pitchFamily="34" charset="-122"/>
                <a:cs typeface="Inter Tight" pitchFamily="34" charset="-120"/>
              </a:rPr>
              <a:t>Automatisation &amp; Emailing</a:t>
            </a:r>
            <a:endParaRPr lang="en-US" sz="2436" dirty="0"/>
          </a:p>
        </p:txBody>
      </p:sp>
      <p:sp>
        <p:nvSpPr>
          <p:cNvPr id="6" name="Shape 2"/>
          <p:cNvSpPr/>
          <p:nvPr/>
        </p:nvSpPr>
        <p:spPr>
          <a:xfrm>
            <a:off x="3047674" y="0"/>
            <a:ext cx="6095377" cy="5143500"/>
          </a:xfrm>
          <a:prstGeom prst="rect">
            <a:avLst/>
          </a:prstGeom>
          <a:solidFill>
            <a:srgbClr val="F8FAFC"/>
          </a:solidFill>
          <a:ln/>
        </p:spPr>
      </p:sp>
      <p:sp>
        <p:nvSpPr>
          <p:cNvPr id="7" name="Text 3"/>
          <p:cNvSpPr/>
          <p:nvPr/>
        </p:nvSpPr>
        <p:spPr>
          <a:xfrm>
            <a:off x="3476299" y="428625"/>
            <a:ext cx="2547612" cy="189309"/>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0F172A"/>
                </a:solidFill>
                <a:latin typeface="Inter Tight" pitchFamily="34" charset="0"/>
                <a:ea typeface="Inter Tight" pitchFamily="34" charset="-122"/>
                <a:cs typeface="Inter Tight" pitchFamily="34" charset="-120"/>
              </a:rPr>
              <a:t>Intégration Brevo</a:t>
            </a:r>
            <a:endParaRPr lang="en-US" sz="1090" dirty="0"/>
          </a:p>
        </p:txBody>
      </p:sp>
      <p:sp>
        <p:nvSpPr>
          <p:cNvPr id="8" name="Text 4"/>
          <p:cNvSpPr/>
          <p:nvPr/>
        </p:nvSpPr>
        <p:spPr>
          <a:xfrm>
            <a:off x="3476299" y="675084"/>
            <a:ext cx="2547612" cy="514350"/>
          </a:xfrm>
          <a:prstGeom prst="rect">
            <a:avLst/>
          </a:prstGeom>
          <a:noFill/>
          <a:ln/>
        </p:spPr>
        <p:txBody>
          <a:bodyPr wrap="square" lIns="0" tIns="0" rIns="0" bIns="0" rtlCol="0" anchor="t">
            <a:spAutoFit/>
          </a:bodyPr>
          <a:lstStyle/>
          <a:p>
            <a:pPr algn="l" indent="0" marL="0">
              <a:lnSpc>
                <a:spcPts val="1400"/>
              </a:lnSpc>
              <a:buNone/>
            </a:pPr>
            <a:r>
              <a:rPr lang="en-US" sz="784" b="1" dirty="0">
                <a:solidFill>
                  <a:srgbClr val="334155"/>
                </a:solidFill>
                <a:latin typeface="Inter Tight" pitchFamily="34" charset="0"/>
                <a:ea typeface="Inter Tight" pitchFamily="34" charset="-122"/>
                <a:cs typeface="Inter Tight" pitchFamily="34" charset="-120"/>
              </a:rPr>
              <a:t>Connexion via API/SMTP pour l'envoi d'emails automatiques déclenchés par des événements CRM.</a:t>
            </a:r>
            <a:endParaRPr lang="en-US" sz="784" dirty="0"/>
          </a:p>
        </p:txBody>
      </p:sp>
      <p:sp>
        <p:nvSpPr>
          <p:cNvPr id="9" name="Text 5"/>
          <p:cNvSpPr/>
          <p:nvPr/>
        </p:nvSpPr>
        <p:spPr>
          <a:xfrm>
            <a:off x="6166786" y="428625"/>
            <a:ext cx="2547640" cy="189309"/>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0F172A"/>
                </a:solidFill>
                <a:latin typeface="Inter Tight" pitchFamily="34" charset="0"/>
                <a:ea typeface="Inter Tight" pitchFamily="34" charset="-122"/>
                <a:cs typeface="Inter Tight" pitchFamily="34" charset="-120"/>
              </a:rPr>
              <a:t>Modèles Dynamiques</a:t>
            </a:r>
            <a:endParaRPr lang="en-US" sz="1090" dirty="0"/>
          </a:p>
        </p:txBody>
      </p:sp>
      <p:sp>
        <p:nvSpPr>
          <p:cNvPr id="10" name="Text 6"/>
          <p:cNvSpPr/>
          <p:nvPr/>
        </p:nvSpPr>
        <p:spPr>
          <a:xfrm>
            <a:off x="6166786" y="675084"/>
            <a:ext cx="2547640" cy="514350"/>
          </a:xfrm>
          <a:prstGeom prst="rect">
            <a:avLst/>
          </a:prstGeom>
          <a:noFill/>
          <a:ln/>
        </p:spPr>
        <p:txBody>
          <a:bodyPr wrap="square" lIns="0" tIns="0" rIns="0" bIns="0" rtlCol="0" anchor="t">
            <a:spAutoFit/>
          </a:bodyPr>
          <a:lstStyle/>
          <a:p>
            <a:pPr algn="l" indent="0" marL="0">
              <a:lnSpc>
                <a:spcPts val="1400"/>
              </a:lnSpc>
              <a:buNone/>
            </a:pPr>
            <a:r>
              <a:rPr lang="en-US" sz="784" b="1" dirty="0">
                <a:solidFill>
                  <a:srgbClr val="334155"/>
                </a:solidFill>
                <a:latin typeface="Inter Tight" pitchFamily="34" charset="0"/>
                <a:ea typeface="Inter Tight" pitchFamily="34" charset="-122"/>
                <a:cs typeface="Inter Tight" pitchFamily="34" charset="-120"/>
              </a:rPr>
              <a:t>Utilisation de templates personnalisables pour assurer une communication cohérente et professionnelle.</a:t>
            </a:r>
            <a:endParaRPr lang="en-US" sz="784" dirty="0"/>
          </a:p>
        </p:txBody>
      </p:sp>
      <p:sp>
        <p:nvSpPr>
          <p:cNvPr id="11" name="Text 7"/>
          <p:cNvSpPr/>
          <p:nvPr/>
        </p:nvSpPr>
        <p:spPr>
          <a:xfrm>
            <a:off x="3476299" y="1332309"/>
            <a:ext cx="2547612" cy="189309"/>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0F172A"/>
                </a:solidFill>
                <a:latin typeface="Inter Tight" pitchFamily="34" charset="0"/>
                <a:ea typeface="Inter Tight" pitchFamily="34" charset="-122"/>
                <a:cs typeface="Inter Tight" pitchFamily="34" charset="-120"/>
              </a:rPr>
              <a:t>Suivi des Performances</a:t>
            </a:r>
            <a:endParaRPr lang="en-US" sz="1090" dirty="0"/>
          </a:p>
        </p:txBody>
      </p:sp>
      <p:sp>
        <p:nvSpPr>
          <p:cNvPr id="12" name="Text 8"/>
          <p:cNvSpPr/>
          <p:nvPr/>
        </p:nvSpPr>
        <p:spPr>
          <a:xfrm>
            <a:off x="3476299" y="1578769"/>
            <a:ext cx="2547612" cy="514350"/>
          </a:xfrm>
          <a:prstGeom prst="rect">
            <a:avLst/>
          </a:prstGeom>
          <a:noFill/>
          <a:ln/>
        </p:spPr>
        <p:txBody>
          <a:bodyPr wrap="square" lIns="0" tIns="0" rIns="0" bIns="0" rtlCol="0" anchor="t">
            <a:spAutoFit/>
          </a:bodyPr>
          <a:lstStyle/>
          <a:p>
            <a:pPr algn="l" indent="0" marL="0">
              <a:lnSpc>
                <a:spcPts val="1400"/>
              </a:lnSpc>
              <a:buNone/>
            </a:pPr>
            <a:r>
              <a:rPr lang="en-US" sz="784" b="1" dirty="0">
                <a:solidFill>
                  <a:srgbClr val="334155"/>
                </a:solidFill>
                <a:latin typeface="Inter Tight" pitchFamily="34" charset="0"/>
                <a:ea typeface="Inter Tight" pitchFamily="34" charset="-122"/>
                <a:cs typeface="Inter Tight" pitchFamily="34" charset="-120"/>
              </a:rPr>
              <a:t>Analyse en temps réel des taux d'ouverture et de clics pour mesurer l'efficacité des actions digitales.</a:t>
            </a:r>
            <a:endParaRPr lang="en-US" sz="784" dirty="0"/>
          </a:p>
        </p:txBody>
      </p:sp>
      <p:sp>
        <p:nvSpPr>
          <p:cNvPr id="13" name="Text 9"/>
          <p:cNvSpPr/>
          <p:nvPr/>
        </p:nvSpPr>
        <p:spPr>
          <a:xfrm>
            <a:off x="6166786" y="1332309"/>
            <a:ext cx="2547640" cy="189309"/>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0F172A"/>
                </a:solidFill>
                <a:latin typeface="Inter Tight" pitchFamily="34" charset="0"/>
                <a:ea typeface="Inter Tight" pitchFamily="34" charset="-122"/>
                <a:cs typeface="Inter Tight" pitchFamily="34" charset="-120"/>
              </a:rPr>
              <a:t>Historique Centralisé</a:t>
            </a:r>
            <a:endParaRPr lang="en-US" sz="1090" dirty="0"/>
          </a:p>
        </p:txBody>
      </p:sp>
      <p:sp>
        <p:nvSpPr>
          <p:cNvPr id="14" name="Text 10"/>
          <p:cNvSpPr/>
          <p:nvPr/>
        </p:nvSpPr>
        <p:spPr>
          <a:xfrm>
            <a:off x="6166786" y="1578769"/>
            <a:ext cx="2547640" cy="514350"/>
          </a:xfrm>
          <a:prstGeom prst="rect">
            <a:avLst/>
          </a:prstGeom>
          <a:noFill/>
          <a:ln/>
        </p:spPr>
        <p:txBody>
          <a:bodyPr wrap="square" lIns="0" tIns="0" rIns="0" bIns="0" rtlCol="0" anchor="t">
            <a:spAutoFit/>
          </a:bodyPr>
          <a:lstStyle/>
          <a:p>
            <a:pPr algn="l" indent="0" marL="0">
              <a:lnSpc>
                <a:spcPts val="1400"/>
              </a:lnSpc>
              <a:buNone/>
            </a:pPr>
            <a:r>
              <a:rPr lang="en-US" sz="784" b="1" dirty="0">
                <a:solidFill>
                  <a:srgbClr val="334155"/>
                </a:solidFill>
                <a:latin typeface="Inter Tight" pitchFamily="34" charset="0"/>
                <a:ea typeface="Inter Tight" pitchFamily="34" charset="-122"/>
                <a:cs typeface="Inter Tight" pitchFamily="34" charset="-120"/>
              </a:rPr>
              <a:t>Archivage automatique de toutes les communications sortantes au sein de la fiche contact.</a:t>
            </a:r>
            <a:endParaRPr lang="en-US" sz="784" dirty="0"/>
          </a:p>
        </p:txBody>
      </p:sp>
      <p:sp>
        <p:nvSpPr>
          <p:cNvPr id="15" name="Shape 11"/>
          <p:cNvSpPr/>
          <p:nvPr/>
        </p:nvSpPr>
        <p:spPr>
          <a:xfrm>
            <a:off x="3476299" y="2235994"/>
            <a:ext cx="5238127" cy="2714625"/>
          </a:xfrm>
          <a:prstGeom prst="rect">
            <a:avLst/>
          </a:prstGeom>
          <a:solidFill>
            <a:srgbClr val="FFFFFF"/>
          </a:solidFill>
          <a:ln w="18288">
            <a:solidFill>
              <a:srgbClr val="334155"/>
            </a:solidFill>
            <a:prstDash val="solid"/>
          </a:ln>
        </p:spPr>
      </p:sp>
      <p:pic>
        <p:nvPicPr>
          <p:cNvPr id="16" name="Image 1" descr="preencoded.png">    </p:cNvPr>
          <p:cNvPicPr>
            <a:picLocks noChangeAspect="1"/>
          </p:cNvPicPr>
          <p:nvPr/>
        </p:nvPicPr>
        <p:blipFill>
          <a:blip r:embed="rId2"/>
          <a:stretch>
            <a:fillRect/>
          </a:stretch>
        </p:blipFill>
        <p:spPr>
          <a:xfrm>
            <a:off x="3595036" y="2307431"/>
            <a:ext cx="5000625" cy="25717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3047674" cy="5143500"/>
          </a:xfrm>
          <a:prstGeom prst="rect">
            <a:avLst/>
          </a:prstGeom>
          <a:solidFill>
            <a:srgbClr val="0F172A"/>
          </a:solidFill>
          <a:ln/>
        </p:spPr>
      </p:sp>
      <p:sp>
        <p:nvSpPr>
          <p:cNvPr id="5" name="Text 1"/>
          <p:cNvSpPr/>
          <p:nvPr/>
        </p:nvSpPr>
        <p:spPr>
          <a:xfrm>
            <a:off x="428625" y="2323170"/>
            <a:ext cx="2333299" cy="754335"/>
          </a:xfrm>
          <a:prstGeom prst="rect">
            <a:avLst/>
          </a:prstGeom>
          <a:noFill/>
          <a:ln/>
        </p:spPr>
        <p:txBody>
          <a:bodyPr wrap="square" lIns="0" tIns="0" rIns="0" bIns="0" rtlCol="0" anchor="t">
            <a:spAutoFit/>
          </a:bodyPr>
          <a:lstStyle/>
          <a:p>
            <a:pPr algn="l" indent="0" marL="0">
              <a:lnSpc>
                <a:spcPts val="3000"/>
              </a:lnSpc>
              <a:buNone/>
            </a:pPr>
            <a:r>
              <a:rPr lang="en-US" sz="2436" b="1" dirty="0">
                <a:solidFill>
                  <a:srgbClr val="FFFFFF"/>
                </a:solidFill>
                <a:latin typeface="Inter Tight" pitchFamily="34" charset="0"/>
                <a:ea typeface="Inter Tight" pitchFamily="34" charset="-122"/>
                <a:cs typeface="Inter Tight" pitchFamily="34" charset="-120"/>
              </a:rPr>
              <a:t>Visualisation &amp; Pilotage KPI</a:t>
            </a:r>
            <a:endParaRPr lang="en-US" sz="2436" dirty="0"/>
          </a:p>
        </p:txBody>
      </p:sp>
      <p:sp>
        <p:nvSpPr>
          <p:cNvPr id="6" name="Shape 2"/>
          <p:cNvSpPr/>
          <p:nvPr/>
        </p:nvSpPr>
        <p:spPr>
          <a:xfrm>
            <a:off x="3047674" y="0"/>
            <a:ext cx="6095377" cy="5143500"/>
          </a:xfrm>
          <a:prstGeom prst="rect">
            <a:avLst/>
          </a:prstGeom>
          <a:solidFill>
            <a:srgbClr val="F8FAFC"/>
          </a:solidFill>
          <a:ln/>
        </p:spPr>
      </p:sp>
      <p:sp>
        <p:nvSpPr>
          <p:cNvPr id="7" name="Shape 3"/>
          <p:cNvSpPr/>
          <p:nvPr/>
        </p:nvSpPr>
        <p:spPr>
          <a:xfrm>
            <a:off x="3476299" y="428625"/>
            <a:ext cx="5238127" cy="2714625"/>
          </a:xfrm>
          <a:prstGeom prst="rect">
            <a:avLst/>
          </a:prstGeom>
          <a:solidFill>
            <a:srgbClr val="FFFFFF"/>
          </a:solidFill>
          <a:ln w="18288">
            <a:solidFill>
              <a:srgbClr val="334155"/>
            </a:solidFill>
            <a:prstDash val="solid"/>
          </a:ln>
        </p:spPr>
      </p:sp>
      <p:pic>
        <p:nvPicPr>
          <p:cNvPr id="8" name="Image 1" descr="preencoded.png">    </p:cNvPr>
          <p:cNvPicPr>
            <a:picLocks noChangeAspect="1"/>
          </p:cNvPicPr>
          <p:nvPr/>
        </p:nvPicPr>
        <p:blipFill>
          <a:blip r:embed="rId2"/>
          <a:stretch>
            <a:fillRect/>
          </a:stretch>
        </p:blipFill>
        <p:spPr>
          <a:xfrm>
            <a:off x="3595036" y="500063"/>
            <a:ext cx="5000625" cy="2571750"/>
          </a:xfrm>
          <a:prstGeom prst="rect">
            <a:avLst/>
          </a:prstGeom>
        </p:spPr>
      </p:pic>
      <p:sp>
        <p:nvSpPr>
          <p:cNvPr id="9" name="Text 4"/>
          <p:cNvSpPr/>
          <p:nvPr/>
        </p:nvSpPr>
        <p:spPr>
          <a:xfrm>
            <a:off x="3476299" y="3357563"/>
            <a:ext cx="2511893" cy="189309"/>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0F172A"/>
                </a:solidFill>
                <a:latin typeface="Inter Tight" pitchFamily="34" charset="0"/>
                <a:ea typeface="Inter Tight" pitchFamily="34" charset="-122"/>
                <a:cs typeface="Inter Tight" pitchFamily="34" charset="-120"/>
              </a:rPr>
              <a:t>Indicateurs Commerciaux</a:t>
            </a:r>
            <a:endParaRPr lang="en-US" sz="1090" dirty="0"/>
          </a:p>
        </p:txBody>
      </p:sp>
      <p:sp>
        <p:nvSpPr>
          <p:cNvPr id="10" name="Text 5"/>
          <p:cNvSpPr/>
          <p:nvPr/>
        </p:nvSpPr>
        <p:spPr>
          <a:xfrm>
            <a:off x="3476299" y="3604022"/>
            <a:ext cx="2511893" cy="342900"/>
          </a:xfrm>
          <a:prstGeom prst="rect">
            <a:avLst/>
          </a:prstGeom>
          <a:noFill/>
          <a:ln/>
        </p:spPr>
        <p:txBody>
          <a:bodyPr wrap="square" lIns="0" tIns="0" rIns="0" bIns="0" rtlCol="0" anchor="t">
            <a:spAutoFit/>
          </a:bodyPr>
          <a:lstStyle/>
          <a:p>
            <a:pPr algn="l" indent="0" marL="0">
              <a:lnSpc>
                <a:spcPts val="1400"/>
              </a:lnSpc>
              <a:buNone/>
            </a:pPr>
            <a:r>
              <a:rPr lang="en-US" sz="784" b="1" dirty="0">
                <a:solidFill>
                  <a:srgbClr val="334155"/>
                </a:solidFill>
                <a:latin typeface="Inter Tight" pitchFamily="34" charset="0"/>
                <a:ea typeface="Inter Tight" pitchFamily="34" charset="-122"/>
                <a:cs typeface="Inter Tight" pitchFamily="34" charset="-120"/>
              </a:rPr>
              <a:t>Suivi du CA total, du volume du pipeline et du taux de conversion des prospects en clients.</a:t>
            </a:r>
            <a:endParaRPr lang="en-US" sz="784" dirty="0"/>
          </a:p>
        </p:txBody>
      </p:sp>
      <p:sp>
        <p:nvSpPr>
          <p:cNvPr id="11" name="Text 6"/>
          <p:cNvSpPr/>
          <p:nvPr/>
        </p:nvSpPr>
        <p:spPr>
          <a:xfrm>
            <a:off x="6202505" y="3357563"/>
            <a:ext cx="2511921" cy="189309"/>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0F172A"/>
                </a:solidFill>
                <a:latin typeface="Inter Tight" pitchFamily="34" charset="0"/>
                <a:ea typeface="Inter Tight" pitchFamily="34" charset="-122"/>
                <a:cs typeface="Inter Tight" pitchFamily="34" charset="-120"/>
              </a:rPr>
              <a:t>Performance Marketing</a:t>
            </a:r>
            <a:endParaRPr lang="en-US" sz="1090" dirty="0"/>
          </a:p>
        </p:txBody>
      </p:sp>
      <p:sp>
        <p:nvSpPr>
          <p:cNvPr id="12" name="Text 7"/>
          <p:cNvSpPr/>
          <p:nvPr/>
        </p:nvSpPr>
        <p:spPr>
          <a:xfrm>
            <a:off x="6202505" y="3604022"/>
            <a:ext cx="2511921" cy="342900"/>
          </a:xfrm>
          <a:prstGeom prst="rect">
            <a:avLst/>
          </a:prstGeom>
          <a:noFill/>
          <a:ln/>
        </p:spPr>
        <p:txBody>
          <a:bodyPr wrap="square" lIns="0" tIns="0" rIns="0" bIns="0" rtlCol="0" anchor="t">
            <a:spAutoFit/>
          </a:bodyPr>
          <a:lstStyle/>
          <a:p>
            <a:pPr algn="l" indent="0" marL="0">
              <a:lnSpc>
                <a:spcPts val="1400"/>
              </a:lnSpc>
              <a:buNone/>
            </a:pPr>
            <a:r>
              <a:rPr lang="en-US" sz="784" b="1" dirty="0">
                <a:solidFill>
                  <a:srgbClr val="334155"/>
                </a:solidFill>
                <a:latin typeface="Inter Tight" pitchFamily="34" charset="0"/>
                <a:ea typeface="Inter Tight" pitchFamily="34" charset="-122"/>
                <a:cs typeface="Inter Tight" pitchFamily="34" charset="-120"/>
              </a:rPr>
              <a:t>Analyse de l'efficacité des campagnes emailing et du taux d'engagement des contacts.</a:t>
            </a:r>
            <a:endParaRPr lang="en-US" sz="784" dirty="0"/>
          </a:p>
        </p:txBody>
      </p:sp>
      <p:sp>
        <p:nvSpPr>
          <p:cNvPr id="13" name="Text 8"/>
          <p:cNvSpPr/>
          <p:nvPr/>
        </p:nvSpPr>
        <p:spPr>
          <a:xfrm>
            <a:off x="3476299" y="4161234"/>
            <a:ext cx="2511893" cy="189309"/>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0F172A"/>
                </a:solidFill>
                <a:latin typeface="Inter Tight" pitchFamily="34" charset="0"/>
                <a:ea typeface="Inter Tight" pitchFamily="34" charset="-122"/>
                <a:cs typeface="Inter Tight" pitchFamily="34" charset="-120"/>
              </a:rPr>
              <a:t>Graphiques Dynamiques</a:t>
            </a:r>
            <a:endParaRPr lang="en-US" sz="1090" dirty="0"/>
          </a:p>
        </p:txBody>
      </p:sp>
      <p:sp>
        <p:nvSpPr>
          <p:cNvPr id="14" name="Text 9"/>
          <p:cNvSpPr/>
          <p:nvPr/>
        </p:nvSpPr>
        <p:spPr>
          <a:xfrm>
            <a:off x="3476299" y="4407694"/>
            <a:ext cx="2511893" cy="342900"/>
          </a:xfrm>
          <a:prstGeom prst="rect">
            <a:avLst/>
          </a:prstGeom>
          <a:noFill/>
          <a:ln/>
        </p:spPr>
        <p:txBody>
          <a:bodyPr wrap="square" lIns="0" tIns="0" rIns="0" bIns="0" rtlCol="0" anchor="t">
            <a:spAutoFit/>
          </a:bodyPr>
          <a:lstStyle/>
          <a:p>
            <a:pPr algn="l" indent="0" marL="0">
              <a:lnSpc>
                <a:spcPts val="1400"/>
              </a:lnSpc>
              <a:buNone/>
            </a:pPr>
            <a:r>
              <a:rPr lang="en-US" sz="784" b="1" dirty="0">
                <a:solidFill>
                  <a:srgbClr val="334155"/>
                </a:solidFill>
                <a:latin typeface="Inter Tight" pitchFamily="34" charset="0"/>
                <a:ea typeface="Inter Tight" pitchFamily="34" charset="-122"/>
                <a:cs typeface="Inter Tight" pitchFamily="34" charset="-120"/>
              </a:rPr>
              <a:t>Visualisation de l'évolution de l'activité et de la répartition des leads par statut en temps réel.</a:t>
            </a:r>
            <a:endParaRPr lang="en-US" sz="784" dirty="0"/>
          </a:p>
        </p:txBody>
      </p:sp>
      <p:sp>
        <p:nvSpPr>
          <p:cNvPr id="15" name="Text 10"/>
          <p:cNvSpPr/>
          <p:nvPr/>
        </p:nvSpPr>
        <p:spPr>
          <a:xfrm>
            <a:off x="6202505" y="4161234"/>
            <a:ext cx="2511921" cy="189309"/>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0F172A"/>
                </a:solidFill>
                <a:latin typeface="Inter Tight" pitchFamily="34" charset="0"/>
                <a:ea typeface="Inter Tight" pitchFamily="34" charset="-122"/>
                <a:cs typeface="Inter Tight" pitchFamily="34" charset="-120"/>
              </a:rPr>
              <a:t>Aide à la Décision</a:t>
            </a:r>
            <a:endParaRPr lang="en-US" sz="1090" dirty="0"/>
          </a:p>
        </p:txBody>
      </p:sp>
      <p:sp>
        <p:nvSpPr>
          <p:cNvPr id="16" name="Text 11"/>
          <p:cNvSpPr/>
          <p:nvPr/>
        </p:nvSpPr>
        <p:spPr>
          <a:xfrm>
            <a:off x="6202505" y="4407694"/>
            <a:ext cx="2511921" cy="514350"/>
          </a:xfrm>
          <a:prstGeom prst="rect">
            <a:avLst/>
          </a:prstGeom>
          <a:noFill/>
          <a:ln/>
        </p:spPr>
        <p:txBody>
          <a:bodyPr wrap="square" lIns="0" tIns="0" rIns="0" bIns="0" rtlCol="0" anchor="t">
            <a:spAutoFit/>
          </a:bodyPr>
          <a:lstStyle/>
          <a:p>
            <a:pPr algn="l" indent="0" marL="0">
              <a:lnSpc>
                <a:spcPts val="1400"/>
              </a:lnSpc>
              <a:buNone/>
            </a:pPr>
            <a:r>
              <a:rPr lang="en-US" sz="784" b="1" dirty="0">
                <a:solidFill>
                  <a:srgbClr val="334155"/>
                </a:solidFill>
                <a:latin typeface="Inter Tight" pitchFamily="34" charset="0"/>
                <a:ea typeface="Inter Tight" pitchFamily="34" charset="-122"/>
                <a:cs typeface="Inter Tight" pitchFamily="34" charset="-120"/>
              </a:rPr>
              <a:t>Tableaux de bord intelligents permettant un pilotage stratégique basé sur des données fiables.</a:t>
            </a:r>
            <a:endParaRPr lang="en-US" sz="784"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3047674" cy="5143500"/>
          </a:xfrm>
          <a:prstGeom prst="rect">
            <a:avLst/>
          </a:prstGeom>
          <a:solidFill>
            <a:srgbClr val="0F172A"/>
          </a:solidFill>
          <a:ln/>
        </p:spPr>
      </p:sp>
      <p:sp>
        <p:nvSpPr>
          <p:cNvPr id="5" name="Text 1"/>
          <p:cNvSpPr/>
          <p:nvPr/>
        </p:nvSpPr>
        <p:spPr>
          <a:xfrm>
            <a:off x="428625" y="2134586"/>
            <a:ext cx="2333299" cy="1131503"/>
          </a:xfrm>
          <a:prstGeom prst="rect">
            <a:avLst/>
          </a:prstGeom>
          <a:noFill/>
          <a:ln/>
        </p:spPr>
        <p:txBody>
          <a:bodyPr wrap="square" lIns="0" tIns="0" rIns="0" bIns="0" rtlCol="0" anchor="t">
            <a:spAutoFit/>
          </a:bodyPr>
          <a:lstStyle/>
          <a:p>
            <a:pPr algn="l" indent="0" marL="0">
              <a:lnSpc>
                <a:spcPts val="3000"/>
              </a:lnSpc>
              <a:buNone/>
            </a:pPr>
            <a:r>
              <a:rPr lang="en-US" sz="2436" b="1" dirty="0">
                <a:solidFill>
                  <a:srgbClr val="FFFFFF"/>
                </a:solidFill>
                <a:latin typeface="Inter Tight" pitchFamily="34" charset="0"/>
                <a:ea typeface="Inter Tight" pitchFamily="34" charset="-122"/>
                <a:cs typeface="Inter Tight" pitchFamily="34" charset="-120"/>
              </a:rPr>
              <a:t>Compétences Acquises &amp; Validées</a:t>
            </a:r>
            <a:endParaRPr lang="en-US" sz="2436" dirty="0"/>
          </a:p>
        </p:txBody>
      </p:sp>
      <p:sp>
        <p:nvSpPr>
          <p:cNvPr id="6" name="Shape 2"/>
          <p:cNvSpPr/>
          <p:nvPr/>
        </p:nvSpPr>
        <p:spPr>
          <a:xfrm>
            <a:off x="3047674" y="0"/>
            <a:ext cx="6095377" cy="5143500"/>
          </a:xfrm>
          <a:prstGeom prst="rect">
            <a:avLst/>
          </a:prstGeom>
          <a:solidFill>
            <a:srgbClr val="F8FAFC"/>
          </a:solidFill>
          <a:ln/>
        </p:spPr>
      </p:sp>
      <p:sp>
        <p:nvSpPr>
          <p:cNvPr id="7" name="Text 3"/>
          <p:cNvSpPr/>
          <p:nvPr/>
        </p:nvSpPr>
        <p:spPr>
          <a:xfrm>
            <a:off x="3619174" y="571500"/>
            <a:ext cx="2333299" cy="292894"/>
          </a:xfrm>
          <a:prstGeom prst="rect">
            <a:avLst/>
          </a:prstGeom>
          <a:noFill/>
          <a:ln/>
        </p:spPr>
        <p:txBody>
          <a:bodyPr wrap="none" lIns="0" tIns="85090" rIns="0" bIns="0" rtlCol="0" anchor="t">
            <a:spAutoFit/>
          </a:bodyPr>
          <a:lstStyle/>
          <a:p>
            <a:pPr algn="l" indent="0" marL="0">
              <a:lnSpc>
                <a:spcPts val="1600"/>
              </a:lnSpc>
              <a:buNone/>
            </a:pPr>
            <a:r>
              <a:rPr lang="en-US" sz="1193" b="1" dirty="0">
                <a:solidFill>
                  <a:srgbClr val="0F172A"/>
                </a:solidFill>
                <a:latin typeface="Inter Tight" pitchFamily="34" charset="0"/>
                <a:ea typeface="Inter Tight" pitchFamily="34" charset="-122"/>
                <a:cs typeface="Inter Tight" pitchFamily="34" charset="-120"/>
              </a:rPr>
              <a:t>Développement Web</a:t>
            </a:r>
            <a:endParaRPr lang="en-US" sz="1193" dirty="0"/>
          </a:p>
        </p:txBody>
      </p:sp>
      <p:sp>
        <p:nvSpPr>
          <p:cNvPr id="8" name="Text 4"/>
          <p:cNvSpPr/>
          <p:nvPr/>
        </p:nvSpPr>
        <p:spPr>
          <a:xfrm>
            <a:off x="3619174" y="971550"/>
            <a:ext cx="2333299" cy="205718"/>
          </a:xfrm>
          <a:prstGeom prst="rect">
            <a:avLst/>
          </a:prstGeom>
          <a:noFill/>
          <a:ln/>
        </p:spPr>
        <p:txBody>
          <a:bodyPr wrap="none" lIns="0" tIns="0" rIns="0" bIns="0" rtlCol="0" anchor="t">
            <a:spAutoFit/>
          </a:bodyPr>
          <a:lstStyle/>
          <a:p>
            <a:pPr algn="l" indent="0" marL="0">
              <a:lnSpc>
                <a:spcPts val="1600"/>
              </a:lnSpc>
              <a:buNone/>
            </a:pPr>
            <a:r>
              <a:rPr lang="en-US" sz="885" b="1" dirty="0">
                <a:solidFill>
                  <a:srgbClr val="334155"/>
                </a:solidFill>
                <a:latin typeface="Inter Tight" pitchFamily="34" charset="0"/>
                <a:ea typeface="Inter Tight" pitchFamily="34" charset="-122"/>
                <a:cs typeface="Inter Tight" pitchFamily="34" charset="-120"/>
              </a:rPr>
              <a:t>Maîtrise de React &amp; Next.js 16</a:t>
            </a:r>
            <a:endParaRPr lang="en-US" sz="885" dirty="0"/>
          </a:p>
        </p:txBody>
      </p:sp>
      <p:sp>
        <p:nvSpPr>
          <p:cNvPr id="9" name="Text 5"/>
          <p:cNvSpPr/>
          <p:nvPr/>
        </p:nvSpPr>
        <p:spPr>
          <a:xfrm>
            <a:off x="3619174" y="1234418"/>
            <a:ext cx="2333299" cy="205718"/>
          </a:xfrm>
          <a:prstGeom prst="rect">
            <a:avLst/>
          </a:prstGeom>
          <a:noFill/>
          <a:ln/>
        </p:spPr>
        <p:txBody>
          <a:bodyPr wrap="none" lIns="0" tIns="0" rIns="0" bIns="0" rtlCol="0" anchor="t">
            <a:spAutoFit/>
          </a:bodyPr>
          <a:lstStyle/>
          <a:p>
            <a:pPr algn="l" indent="0" marL="0">
              <a:lnSpc>
                <a:spcPts val="1600"/>
              </a:lnSpc>
              <a:buNone/>
            </a:pPr>
            <a:r>
              <a:rPr lang="en-US" sz="885" b="1" dirty="0">
                <a:solidFill>
                  <a:srgbClr val="334155"/>
                </a:solidFill>
                <a:latin typeface="Inter Tight" pitchFamily="34" charset="0"/>
                <a:ea typeface="Inter Tight" pitchFamily="34" charset="-122"/>
                <a:cs typeface="Inter Tight" pitchFamily="34" charset="-120"/>
              </a:rPr>
              <a:t>Typage statique avec TypeScript</a:t>
            </a:r>
            <a:endParaRPr lang="en-US" sz="885" dirty="0"/>
          </a:p>
        </p:txBody>
      </p:sp>
      <p:sp>
        <p:nvSpPr>
          <p:cNvPr id="10" name="Text 6"/>
          <p:cNvSpPr/>
          <p:nvPr/>
        </p:nvSpPr>
        <p:spPr>
          <a:xfrm>
            <a:off x="3619174" y="1497285"/>
            <a:ext cx="2333299" cy="205718"/>
          </a:xfrm>
          <a:prstGeom prst="rect">
            <a:avLst/>
          </a:prstGeom>
          <a:noFill/>
          <a:ln/>
        </p:spPr>
        <p:txBody>
          <a:bodyPr wrap="none" lIns="0" tIns="0" rIns="0" bIns="0" rtlCol="0" anchor="t">
            <a:spAutoFit/>
          </a:bodyPr>
          <a:lstStyle/>
          <a:p>
            <a:pPr algn="l" indent="0" marL="0">
              <a:lnSpc>
                <a:spcPts val="1600"/>
              </a:lnSpc>
              <a:buNone/>
            </a:pPr>
            <a:r>
              <a:rPr lang="en-US" sz="885" b="1" dirty="0">
                <a:solidFill>
                  <a:srgbClr val="334155"/>
                </a:solidFill>
                <a:latin typeface="Inter Tight" pitchFamily="34" charset="0"/>
                <a:ea typeface="Inter Tight" pitchFamily="34" charset="-122"/>
                <a:cs typeface="Inter Tight" pitchFamily="34" charset="-120"/>
              </a:rPr>
              <a:t>Design responsive (Tailwind CSS)</a:t>
            </a:r>
            <a:endParaRPr lang="en-US" sz="885" dirty="0"/>
          </a:p>
        </p:txBody>
      </p:sp>
      <p:sp>
        <p:nvSpPr>
          <p:cNvPr id="11" name="Text 7"/>
          <p:cNvSpPr/>
          <p:nvPr/>
        </p:nvSpPr>
        <p:spPr>
          <a:xfrm>
            <a:off x="3619174" y="1760153"/>
            <a:ext cx="2333299" cy="205718"/>
          </a:xfrm>
          <a:prstGeom prst="rect">
            <a:avLst/>
          </a:prstGeom>
          <a:noFill/>
          <a:ln/>
        </p:spPr>
        <p:txBody>
          <a:bodyPr wrap="none" lIns="0" tIns="0" rIns="0" bIns="0" rtlCol="0" anchor="t">
            <a:spAutoFit/>
          </a:bodyPr>
          <a:lstStyle/>
          <a:p>
            <a:pPr algn="l" indent="0" marL="0">
              <a:lnSpc>
                <a:spcPts val="1600"/>
              </a:lnSpc>
              <a:buNone/>
            </a:pPr>
            <a:r>
              <a:rPr lang="en-US" sz="885" b="1" dirty="0">
                <a:solidFill>
                  <a:srgbClr val="334155"/>
                </a:solidFill>
                <a:latin typeface="Inter Tight" pitchFamily="34" charset="0"/>
                <a:ea typeface="Inter Tight" pitchFamily="34" charset="-122"/>
                <a:cs typeface="Inter Tight" pitchFamily="34" charset="-120"/>
              </a:rPr>
              <a:t>Gestion du routing dynamique</a:t>
            </a:r>
            <a:endParaRPr lang="en-US" sz="885" dirty="0"/>
          </a:p>
        </p:txBody>
      </p:sp>
      <p:sp>
        <p:nvSpPr>
          <p:cNvPr id="12" name="Text 8"/>
          <p:cNvSpPr/>
          <p:nvPr/>
        </p:nvSpPr>
        <p:spPr>
          <a:xfrm>
            <a:off x="6238224" y="571500"/>
            <a:ext cx="2333327" cy="292894"/>
          </a:xfrm>
          <a:prstGeom prst="rect">
            <a:avLst/>
          </a:prstGeom>
          <a:noFill/>
          <a:ln/>
        </p:spPr>
        <p:txBody>
          <a:bodyPr wrap="none" lIns="0" tIns="85090" rIns="0" bIns="0" rtlCol="0" anchor="t">
            <a:spAutoFit/>
          </a:bodyPr>
          <a:lstStyle/>
          <a:p>
            <a:pPr algn="l" indent="0" marL="0">
              <a:lnSpc>
                <a:spcPts val="1600"/>
              </a:lnSpc>
              <a:buNone/>
            </a:pPr>
            <a:r>
              <a:rPr lang="en-US" sz="1193" b="1" dirty="0">
                <a:solidFill>
                  <a:srgbClr val="0F172A"/>
                </a:solidFill>
                <a:latin typeface="Inter Tight" pitchFamily="34" charset="0"/>
                <a:ea typeface="Inter Tight" pitchFamily="34" charset="-122"/>
                <a:cs typeface="Inter Tight" pitchFamily="34" charset="-120"/>
              </a:rPr>
              <a:t>Backend &amp; Data</a:t>
            </a:r>
            <a:endParaRPr lang="en-US" sz="1193" dirty="0"/>
          </a:p>
        </p:txBody>
      </p:sp>
      <p:sp>
        <p:nvSpPr>
          <p:cNvPr id="13" name="Text 9"/>
          <p:cNvSpPr/>
          <p:nvPr/>
        </p:nvSpPr>
        <p:spPr>
          <a:xfrm>
            <a:off x="6238224" y="971550"/>
            <a:ext cx="2333327" cy="205718"/>
          </a:xfrm>
          <a:prstGeom prst="rect">
            <a:avLst/>
          </a:prstGeom>
          <a:noFill/>
          <a:ln/>
        </p:spPr>
        <p:txBody>
          <a:bodyPr wrap="none" lIns="0" tIns="0" rIns="0" bIns="0" rtlCol="0" anchor="t">
            <a:spAutoFit/>
          </a:bodyPr>
          <a:lstStyle/>
          <a:p>
            <a:pPr algn="l" indent="0" marL="0">
              <a:lnSpc>
                <a:spcPts val="1600"/>
              </a:lnSpc>
              <a:buNone/>
            </a:pPr>
            <a:r>
              <a:rPr lang="en-US" sz="885" b="1" dirty="0">
                <a:solidFill>
                  <a:srgbClr val="334155"/>
                </a:solidFill>
                <a:latin typeface="Inter Tight" pitchFamily="34" charset="0"/>
                <a:ea typeface="Inter Tight" pitchFamily="34" charset="-122"/>
                <a:cs typeface="Inter Tight" pitchFamily="34" charset="-120"/>
              </a:rPr>
              <a:t>Modélisation PostgreSQL</a:t>
            </a:r>
            <a:endParaRPr lang="en-US" sz="885" dirty="0"/>
          </a:p>
        </p:txBody>
      </p:sp>
      <p:sp>
        <p:nvSpPr>
          <p:cNvPr id="14" name="Text 10"/>
          <p:cNvSpPr/>
          <p:nvPr/>
        </p:nvSpPr>
        <p:spPr>
          <a:xfrm>
            <a:off x="6238224" y="1234418"/>
            <a:ext cx="2333327" cy="205718"/>
          </a:xfrm>
          <a:prstGeom prst="rect">
            <a:avLst/>
          </a:prstGeom>
          <a:noFill/>
          <a:ln/>
        </p:spPr>
        <p:txBody>
          <a:bodyPr wrap="none" lIns="0" tIns="0" rIns="0" bIns="0" rtlCol="0" anchor="t">
            <a:spAutoFit/>
          </a:bodyPr>
          <a:lstStyle/>
          <a:p>
            <a:pPr algn="l" indent="0" marL="0">
              <a:lnSpc>
                <a:spcPts val="1600"/>
              </a:lnSpc>
              <a:buNone/>
            </a:pPr>
            <a:r>
              <a:rPr lang="en-US" sz="885" b="1" dirty="0">
                <a:solidFill>
                  <a:srgbClr val="334155"/>
                </a:solidFill>
                <a:latin typeface="Inter Tight" pitchFamily="34" charset="0"/>
                <a:ea typeface="Inter Tight" pitchFamily="34" charset="-122"/>
                <a:cs typeface="Inter Tight" pitchFamily="34" charset="-120"/>
              </a:rPr>
              <a:t>Sécurité Row Level Security (RLS)</a:t>
            </a:r>
            <a:endParaRPr lang="en-US" sz="885" dirty="0"/>
          </a:p>
        </p:txBody>
      </p:sp>
      <p:sp>
        <p:nvSpPr>
          <p:cNvPr id="15" name="Text 11"/>
          <p:cNvSpPr/>
          <p:nvPr/>
        </p:nvSpPr>
        <p:spPr>
          <a:xfrm>
            <a:off x="6238224" y="1497285"/>
            <a:ext cx="2333327" cy="205718"/>
          </a:xfrm>
          <a:prstGeom prst="rect">
            <a:avLst/>
          </a:prstGeom>
          <a:noFill/>
          <a:ln/>
        </p:spPr>
        <p:txBody>
          <a:bodyPr wrap="none" lIns="0" tIns="0" rIns="0" bIns="0" rtlCol="0" anchor="t">
            <a:spAutoFit/>
          </a:bodyPr>
          <a:lstStyle/>
          <a:p>
            <a:pPr algn="l" indent="0" marL="0">
              <a:lnSpc>
                <a:spcPts val="1600"/>
              </a:lnSpc>
              <a:buNone/>
            </a:pPr>
            <a:r>
              <a:rPr lang="en-US" sz="885" b="1" dirty="0">
                <a:solidFill>
                  <a:srgbClr val="334155"/>
                </a:solidFill>
                <a:latin typeface="Inter Tight" pitchFamily="34" charset="0"/>
                <a:ea typeface="Inter Tight" pitchFamily="34" charset="-122"/>
                <a:cs typeface="Inter Tight" pitchFamily="34" charset="-120"/>
              </a:rPr>
              <a:t>Logique Serverless (API Routes)</a:t>
            </a:r>
            <a:endParaRPr lang="en-US" sz="885" dirty="0"/>
          </a:p>
        </p:txBody>
      </p:sp>
      <p:sp>
        <p:nvSpPr>
          <p:cNvPr id="16" name="Text 12"/>
          <p:cNvSpPr/>
          <p:nvPr/>
        </p:nvSpPr>
        <p:spPr>
          <a:xfrm>
            <a:off x="6238224" y="1760153"/>
            <a:ext cx="2333327" cy="205718"/>
          </a:xfrm>
          <a:prstGeom prst="rect">
            <a:avLst/>
          </a:prstGeom>
          <a:noFill/>
          <a:ln/>
        </p:spPr>
        <p:txBody>
          <a:bodyPr wrap="none" lIns="0" tIns="0" rIns="0" bIns="0" rtlCol="0" anchor="t">
            <a:spAutoFit/>
          </a:bodyPr>
          <a:lstStyle/>
          <a:p>
            <a:pPr algn="l" indent="0" marL="0">
              <a:lnSpc>
                <a:spcPts val="1600"/>
              </a:lnSpc>
              <a:buNone/>
            </a:pPr>
            <a:r>
              <a:rPr lang="en-US" sz="885" b="1" dirty="0">
                <a:solidFill>
                  <a:srgbClr val="334155"/>
                </a:solidFill>
                <a:latin typeface="Inter Tight" pitchFamily="34" charset="0"/>
                <a:ea typeface="Inter Tight" pitchFamily="34" charset="-122"/>
                <a:cs typeface="Inter Tight" pitchFamily="34" charset="-120"/>
              </a:rPr>
              <a:t>Gestion d'authentification (JWT)</a:t>
            </a:r>
            <a:endParaRPr lang="en-US" sz="885" dirty="0"/>
          </a:p>
        </p:txBody>
      </p:sp>
      <p:sp>
        <p:nvSpPr>
          <p:cNvPr id="17" name="Text 13"/>
          <p:cNvSpPr/>
          <p:nvPr/>
        </p:nvSpPr>
        <p:spPr>
          <a:xfrm>
            <a:off x="3619174" y="2451646"/>
            <a:ext cx="2333299" cy="292894"/>
          </a:xfrm>
          <a:prstGeom prst="rect">
            <a:avLst/>
          </a:prstGeom>
          <a:noFill/>
          <a:ln/>
        </p:spPr>
        <p:txBody>
          <a:bodyPr wrap="none" lIns="0" tIns="85090" rIns="0" bIns="0" rtlCol="0" anchor="t">
            <a:spAutoFit/>
          </a:bodyPr>
          <a:lstStyle/>
          <a:p>
            <a:pPr algn="l" indent="0" marL="0">
              <a:lnSpc>
                <a:spcPts val="1600"/>
              </a:lnSpc>
              <a:buNone/>
            </a:pPr>
            <a:r>
              <a:rPr lang="en-US" sz="1193" b="1" dirty="0">
                <a:solidFill>
                  <a:srgbClr val="0F172A"/>
                </a:solidFill>
                <a:latin typeface="Inter Tight" pitchFamily="34" charset="0"/>
                <a:ea typeface="Inter Tight" pitchFamily="34" charset="-122"/>
                <a:cs typeface="Inter Tight" pitchFamily="34" charset="-120"/>
              </a:rPr>
              <a:t>Intégration SaaS</a:t>
            </a:r>
            <a:endParaRPr lang="en-US" sz="1193" dirty="0"/>
          </a:p>
        </p:txBody>
      </p:sp>
      <p:sp>
        <p:nvSpPr>
          <p:cNvPr id="18" name="Text 14"/>
          <p:cNvSpPr/>
          <p:nvPr/>
        </p:nvSpPr>
        <p:spPr>
          <a:xfrm>
            <a:off x="3619174" y="2851696"/>
            <a:ext cx="2333299" cy="205718"/>
          </a:xfrm>
          <a:prstGeom prst="rect">
            <a:avLst/>
          </a:prstGeom>
          <a:noFill/>
          <a:ln/>
        </p:spPr>
        <p:txBody>
          <a:bodyPr wrap="none" lIns="0" tIns="0" rIns="0" bIns="0" rtlCol="0" anchor="t">
            <a:spAutoFit/>
          </a:bodyPr>
          <a:lstStyle/>
          <a:p>
            <a:pPr algn="l" indent="0" marL="0">
              <a:lnSpc>
                <a:spcPts val="1600"/>
              </a:lnSpc>
              <a:buNone/>
            </a:pPr>
            <a:r>
              <a:rPr lang="en-US" sz="885" b="1" dirty="0">
                <a:solidFill>
                  <a:srgbClr val="334155"/>
                </a:solidFill>
                <a:latin typeface="Inter Tight" pitchFamily="34" charset="0"/>
                <a:ea typeface="Inter Tight" pitchFamily="34" charset="-122"/>
                <a:cs typeface="Inter Tight" pitchFamily="34" charset="-120"/>
              </a:rPr>
              <a:t>Emailing automatisé (Brevo)</a:t>
            </a:r>
            <a:endParaRPr lang="en-US" sz="885" dirty="0"/>
          </a:p>
        </p:txBody>
      </p:sp>
      <p:sp>
        <p:nvSpPr>
          <p:cNvPr id="19" name="Text 15"/>
          <p:cNvSpPr/>
          <p:nvPr/>
        </p:nvSpPr>
        <p:spPr>
          <a:xfrm>
            <a:off x="3619174" y="3114563"/>
            <a:ext cx="2333299" cy="205718"/>
          </a:xfrm>
          <a:prstGeom prst="rect">
            <a:avLst/>
          </a:prstGeom>
          <a:noFill/>
          <a:ln/>
        </p:spPr>
        <p:txBody>
          <a:bodyPr wrap="none" lIns="0" tIns="0" rIns="0" bIns="0" rtlCol="0" anchor="t">
            <a:spAutoFit/>
          </a:bodyPr>
          <a:lstStyle/>
          <a:p>
            <a:pPr algn="l" indent="0" marL="0">
              <a:lnSpc>
                <a:spcPts val="1600"/>
              </a:lnSpc>
              <a:buNone/>
            </a:pPr>
            <a:r>
              <a:rPr lang="en-US" sz="885" b="1" dirty="0">
                <a:solidFill>
                  <a:srgbClr val="334155"/>
                </a:solidFill>
                <a:latin typeface="Inter Tight" pitchFamily="34" charset="0"/>
                <a:ea typeface="Inter Tight" pitchFamily="34" charset="-122"/>
                <a:cs typeface="Inter Tight" pitchFamily="34" charset="-120"/>
              </a:rPr>
              <a:t>Backend-as-a-Service (Supabase)</a:t>
            </a:r>
            <a:endParaRPr lang="en-US" sz="885" dirty="0"/>
          </a:p>
        </p:txBody>
      </p:sp>
      <p:sp>
        <p:nvSpPr>
          <p:cNvPr id="20" name="Text 16"/>
          <p:cNvSpPr/>
          <p:nvPr/>
        </p:nvSpPr>
        <p:spPr>
          <a:xfrm>
            <a:off x="3619174" y="3377431"/>
            <a:ext cx="2333299" cy="205718"/>
          </a:xfrm>
          <a:prstGeom prst="rect">
            <a:avLst/>
          </a:prstGeom>
          <a:noFill/>
          <a:ln/>
        </p:spPr>
        <p:txBody>
          <a:bodyPr wrap="none" lIns="0" tIns="0" rIns="0" bIns="0" rtlCol="0" anchor="t">
            <a:spAutoFit/>
          </a:bodyPr>
          <a:lstStyle/>
          <a:p>
            <a:pPr algn="l" indent="0" marL="0">
              <a:lnSpc>
                <a:spcPts val="1600"/>
              </a:lnSpc>
              <a:buNone/>
            </a:pPr>
            <a:r>
              <a:rPr lang="en-US" sz="885" b="1" dirty="0">
                <a:solidFill>
                  <a:srgbClr val="334155"/>
                </a:solidFill>
                <a:latin typeface="Inter Tight" pitchFamily="34" charset="0"/>
                <a:ea typeface="Inter Tight" pitchFamily="34" charset="-122"/>
                <a:cs typeface="Inter Tight" pitchFamily="34" charset="-120"/>
              </a:rPr>
              <a:t>Déploiement Cloud (Vercel)</a:t>
            </a:r>
            <a:endParaRPr lang="en-US" sz="885" dirty="0"/>
          </a:p>
        </p:txBody>
      </p:sp>
      <p:sp>
        <p:nvSpPr>
          <p:cNvPr id="21" name="Text 17"/>
          <p:cNvSpPr/>
          <p:nvPr/>
        </p:nvSpPr>
        <p:spPr>
          <a:xfrm>
            <a:off x="3619174" y="3640299"/>
            <a:ext cx="2333299" cy="205718"/>
          </a:xfrm>
          <a:prstGeom prst="rect">
            <a:avLst/>
          </a:prstGeom>
          <a:noFill/>
          <a:ln/>
        </p:spPr>
        <p:txBody>
          <a:bodyPr wrap="none" lIns="0" tIns="0" rIns="0" bIns="0" rtlCol="0" anchor="t">
            <a:spAutoFit/>
          </a:bodyPr>
          <a:lstStyle/>
          <a:p>
            <a:pPr algn="l" indent="0" marL="0">
              <a:lnSpc>
                <a:spcPts val="1600"/>
              </a:lnSpc>
              <a:buNone/>
            </a:pPr>
            <a:r>
              <a:rPr lang="en-US" sz="885" b="1" dirty="0">
                <a:solidFill>
                  <a:srgbClr val="334155"/>
                </a:solidFill>
                <a:latin typeface="Inter Tight" pitchFamily="34" charset="0"/>
                <a:ea typeface="Inter Tight" pitchFamily="34" charset="-122"/>
                <a:cs typeface="Inter Tight" pitchFamily="34" charset="-120"/>
              </a:rPr>
              <a:t>Connexion d'APIs externes</a:t>
            </a:r>
            <a:endParaRPr lang="en-US" sz="885" dirty="0"/>
          </a:p>
        </p:txBody>
      </p:sp>
      <p:sp>
        <p:nvSpPr>
          <p:cNvPr id="22" name="Text 18"/>
          <p:cNvSpPr/>
          <p:nvPr/>
        </p:nvSpPr>
        <p:spPr>
          <a:xfrm>
            <a:off x="6238224" y="2451646"/>
            <a:ext cx="2333327" cy="292894"/>
          </a:xfrm>
          <a:prstGeom prst="rect">
            <a:avLst/>
          </a:prstGeom>
          <a:noFill/>
          <a:ln/>
        </p:spPr>
        <p:txBody>
          <a:bodyPr wrap="none" lIns="0" tIns="85090" rIns="0" bIns="0" rtlCol="0" anchor="t">
            <a:spAutoFit/>
          </a:bodyPr>
          <a:lstStyle/>
          <a:p>
            <a:pPr algn="l" indent="0" marL="0">
              <a:lnSpc>
                <a:spcPts val="1600"/>
              </a:lnSpc>
              <a:buNone/>
            </a:pPr>
            <a:r>
              <a:rPr lang="en-US" sz="1193" b="1" dirty="0">
                <a:solidFill>
                  <a:srgbClr val="0F172A"/>
                </a:solidFill>
                <a:latin typeface="Inter Tight" pitchFamily="34" charset="0"/>
                <a:ea typeface="Inter Tight" pitchFamily="34" charset="-122"/>
                <a:cs typeface="Inter Tight" pitchFamily="34" charset="-120"/>
              </a:rPr>
              <a:t>DevOps &amp; Projet</a:t>
            </a:r>
            <a:endParaRPr lang="en-US" sz="1193" dirty="0"/>
          </a:p>
        </p:txBody>
      </p:sp>
      <p:sp>
        <p:nvSpPr>
          <p:cNvPr id="23" name="Text 19"/>
          <p:cNvSpPr/>
          <p:nvPr/>
        </p:nvSpPr>
        <p:spPr>
          <a:xfrm>
            <a:off x="6238224" y="2851696"/>
            <a:ext cx="2333327" cy="205718"/>
          </a:xfrm>
          <a:prstGeom prst="rect">
            <a:avLst/>
          </a:prstGeom>
          <a:noFill/>
          <a:ln/>
        </p:spPr>
        <p:txBody>
          <a:bodyPr wrap="none" lIns="0" tIns="0" rIns="0" bIns="0" rtlCol="0" anchor="t">
            <a:spAutoFit/>
          </a:bodyPr>
          <a:lstStyle/>
          <a:p>
            <a:pPr algn="l" indent="0" marL="0">
              <a:lnSpc>
                <a:spcPts val="1600"/>
              </a:lnSpc>
              <a:buNone/>
            </a:pPr>
            <a:r>
              <a:rPr lang="en-US" sz="885" b="1" dirty="0">
                <a:solidFill>
                  <a:srgbClr val="334155"/>
                </a:solidFill>
                <a:latin typeface="Inter Tight" pitchFamily="34" charset="0"/>
                <a:ea typeface="Inter Tight" pitchFamily="34" charset="-122"/>
                <a:cs typeface="Inter Tight" pitchFamily="34" charset="-120"/>
              </a:rPr>
              <a:t>Workflow Git &amp; GitHub (CI/CD)</a:t>
            </a:r>
            <a:endParaRPr lang="en-US" sz="885" dirty="0"/>
          </a:p>
        </p:txBody>
      </p:sp>
      <p:sp>
        <p:nvSpPr>
          <p:cNvPr id="24" name="Text 20"/>
          <p:cNvSpPr/>
          <p:nvPr/>
        </p:nvSpPr>
        <p:spPr>
          <a:xfrm>
            <a:off x="6238224" y="3114563"/>
            <a:ext cx="2333327" cy="205718"/>
          </a:xfrm>
          <a:prstGeom prst="rect">
            <a:avLst/>
          </a:prstGeom>
          <a:noFill/>
          <a:ln/>
        </p:spPr>
        <p:txBody>
          <a:bodyPr wrap="none" lIns="0" tIns="0" rIns="0" bIns="0" rtlCol="0" anchor="t">
            <a:spAutoFit/>
          </a:bodyPr>
          <a:lstStyle/>
          <a:p>
            <a:pPr algn="l" indent="0" marL="0">
              <a:lnSpc>
                <a:spcPts val="1600"/>
              </a:lnSpc>
              <a:buNone/>
            </a:pPr>
            <a:r>
              <a:rPr lang="en-US" sz="885" b="1" dirty="0">
                <a:solidFill>
                  <a:srgbClr val="334155"/>
                </a:solidFill>
                <a:latin typeface="Inter Tight" pitchFamily="34" charset="0"/>
                <a:ea typeface="Inter Tight" pitchFamily="34" charset="-122"/>
                <a:cs typeface="Inter Tight" pitchFamily="34" charset="-120"/>
              </a:rPr>
              <a:t>Gestion de projet de bout en bout</a:t>
            </a:r>
            <a:endParaRPr lang="en-US" sz="885" dirty="0"/>
          </a:p>
        </p:txBody>
      </p:sp>
      <p:sp>
        <p:nvSpPr>
          <p:cNvPr id="25" name="Text 21"/>
          <p:cNvSpPr/>
          <p:nvPr/>
        </p:nvSpPr>
        <p:spPr>
          <a:xfrm>
            <a:off x="6238224" y="3377431"/>
            <a:ext cx="2333327" cy="205718"/>
          </a:xfrm>
          <a:prstGeom prst="rect">
            <a:avLst/>
          </a:prstGeom>
          <a:noFill/>
          <a:ln/>
        </p:spPr>
        <p:txBody>
          <a:bodyPr wrap="none" lIns="0" tIns="0" rIns="0" bIns="0" rtlCol="0" anchor="t">
            <a:spAutoFit/>
          </a:bodyPr>
          <a:lstStyle/>
          <a:p>
            <a:pPr algn="l" indent="0" marL="0">
              <a:lnSpc>
                <a:spcPts val="1600"/>
              </a:lnSpc>
              <a:buNone/>
            </a:pPr>
            <a:r>
              <a:rPr lang="en-US" sz="885" b="1" dirty="0">
                <a:solidFill>
                  <a:srgbClr val="334155"/>
                </a:solidFill>
                <a:latin typeface="Inter Tight" pitchFamily="34" charset="0"/>
                <a:ea typeface="Inter Tight" pitchFamily="34" charset="-122"/>
                <a:cs typeface="Inter Tight" pitchFamily="34" charset="-120"/>
              </a:rPr>
              <a:t>Résolution de problèmes techniques</a:t>
            </a:r>
            <a:endParaRPr lang="en-US" sz="885" dirty="0"/>
          </a:p>
        </p:txBody>
      </p:sp>
      <p:sp>
        <p:nvSpPr>
          <p:cNvPr id="26" name="Text 22"/>
          <p:cNvSpPr/>
          <p:nvPr/>
        </p:nvSpPr>
        <p:spPr>
          <a:xfrm>
            <a:off x="6238224" y="3640299"/>
            <a:ext cx="2333327" cy="205718"/>
          </a:xfrm>
          <a:prstGeom prst="rect">
            <a:avLst/>
          </a:prstGeom>
          <a:noFill/>
          <a:ln/>
        </p:spPr>
        <p:txBody>
          <a:bodyPr wrap="none" lIns="0" tIns="0" rIns="0" bIns="0" rtlCol="0" anchor="t">
            <a:spAutoFit/>
          </a:bodyPr>
          <a:lstStyle/>
          <a:p>
            <a:pPr algn="l" indent="0" marL="0">
              <a:lnSpc>
                <a:spcPts val="1600"/>
              </a:lnSpc>
              <a:buNone/>
            </a:pPr>
            <a:r>
              <a:rPr lang="en-US" sz="885" b="1" dirty="0">
                <a:solidFill>
                  <a:srgbClr val="334155"/>
                </a:solidFill>
                <a:latin typeface="Inter Tight" pitchFamily="34" charset="0"/>
                <a:ea typeface="Inter Tight" pitchFamily="34" charset="-122"/>
                <a:cs typeface="Inter Tight" pitchFamily="34" charset="-120"/>
              </a:rPr>
              <a:t>Architecture Multi-tenant</a:t>
            </a:r>
            <a:endParaRPr lang="en-US" sz="88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3047674" cy="5143500"/>
          </a:xfrm>
          <a:prstGeom prst="rect">
            <a:avLst/>
          </a:prstGeom>
          <a:solidFill>
            <a:srgbClr val="0F172A"/>
          </a:solidFill>
          <a:ln/>
        </p:spPr>
      </p:sp>
      <p:sp>
        <p:nvSpPr>
          <p:cNvPr id="5" name="Text 1"/>
          <p:cNvSpPr/>
          <p:nvPr/>
        </p:nvSpPr>
        <p:spPr>
          <a:xfrm>
            <a:off x="428625" y="2323170"/>
            <a:ext cx="2333299" cy="754335"/>
          </a:xfrm>
          <a:prstGeom prst="rect">
            <a:avLst/>
          </a:prstGeom>
          <a:noFill/>
          <a:ln/>
        </p:spPr>
        <p:txBody>
          <a:bodyPr wrap="square" lIns="0" tIns="0" rIns="0" bIns="0" rtlCol="0" anchor="t">
            <a:spAutoFit/>
          </a:bodyPr>
          <a:lstStyle/>
          <a:p>
            <a:pPr algn="l" indent="0" marL="0">
              <a:lnSpc>
                <a:spcPts val="3000"/>
              </a:lnSpc>
              <a:buNone/>
            </a:pPr>
            <a:r>
              <a:rPr lang="en-US" sz="2436" b="1" dirty="0">
                <a:solidFill>
                  <a:srgbClr val="FFFFFF"/>
                </a:solidFill>
                <a:latin typeface="Inter Tight" pitchFamily="34" charset="0"/>
                <a:ea typeface="Inter Tight" pitchFamily="34" charset="-122"/>
                <a:cs typeface="Inter Tight" pitchFamily="34" charset="-120"/>
              </a:rPr>
              <a:t>Démonstration &amp; Jeu de Tests</a:t>
            </a:r>
            <a:endParaRPr lang="en-US" sz="2436" dirty="0"/>
          </a:p>
        </p:txBody>
      </p:sp>
      <p:sp>
        <p:nvSpPr>
          <p:cNvPr id="6" name="Shape 2"/>
          <p:cNvSpPr/>
          <p:nvPr/>
        </p:nvSpPr>
        <p:spPr>
          <a:xfrm>
            <a:off x="3047674" y="0"/>
            <a:ext cx="6095377" cy="5143500"/>
          </a:xfrm>
          <a:prstGeom prst="rect">
            <a:avLst/>
          </a:prstGeom>
          <a:solidFill>
            <a:srgbClr val="F8FAFC"/>
          </a:solidFill>
          <a:ln/>
        </p:spPr>
      </p:sp>
      <p:sp>
        <p:nvSpPr>
          <p:cNvPr id="7" name="Shape 3"/>
          <p:cNvSpPr/>
          <p:nvPr/>
        </p:nvSpPr>
        <p:spPr>
          <a:xfrm>
            <a:off x="3619174" y="1143000"/>
            <a:ext cx="2333299" cy="1571625"/>
          </a:xfrm>
          <a:prstGeom prst="rect">
            <a:avLst/>
          </a:prstGeom>
          <a:solidFill>
            <a:srgbClr val="FFFFFF"/>
          </a:solidFill>
          <a:ln w="18288">
            <a:solidFill>
              <a:srgbClr val="334155"/>
            </a:solidFill>
            <a:prstDash val="solid"/>
          </a:ln>
        </p:spPr>
      </p:sp>
      <p:pic>
        <p:nvPicPr>
          <p:cNvPr id="8" name="Image 1" descr="preencoded.png">    </p:cNvPr>
          <p:cNvPicPr>
            <a:picLocks noChangeAspect="1"/>
          </p:cNvPicPr>
          <p:nvPr/>
        </p:nvPicPr>
        <p:blipFill>
          <a:blip r:embed="rId2"/>
          <a:stretch>
            <a:fillRect/>
          </a:stretch>
        </p:blipFill>
        <p:spPr>
          <a:xfrm>
            <a:off x="4614360" y="1428750"/>
            <a:ext cx="342900" cy="342900"/>
          </a:xfrm>
          <a:prstGeom prst="rect">
            <a:avLst/>
          </a:prstGeom>
        </p:spPr>
      </p:pic>
      <p:sp>
        <p:nvSpPr>
          <p:cNvPr id="9" name="Text 4"/>
          <p:cNvSpPr/>
          <p:nvPr/>
        </p:nvSpPr>
        <p:spPr>
          <a:xfrm>
            <a:off x="4342005" y="1914525"/>
            <a:ext cx="887611" cy="207169"/>
          </a:xfrm>
          <a:prstGeom prst="rect">
            <a:avLst/>
          </a:prstGeom>
          <a:noFill/>
          <a:ln/>
        </p:spPr>
        <p:txBody>
          <a:bodyPr wrap="none" lIns="0" tIns="0" rIns="0" bIns="0" rtlCol="0" anchor="t">
            <a:spAutoFit/>
          </a:bodyPr>
          <a:lstStyle/>
          <a:p>
            <a:pPr algn="ctr" indent="0" marL="0">
              <a:lnSpc>
                <a:spcPts val="1600"/>
              </a:lnSpc>
              <a:buNone/>
            </a:pPr>
            <a:r>
              <a:rPr lang="en-US" sz="1193" b="1" dirty="0">
                <a:solidFill>
                  <a:srgbClr val="0F172A"/>
                </a:solidFill>
                <a:latin typeface="Inter Tight" pitchFamily="34" charset="0"/>
                <a:ea typeface="Inter Tight" pitchFamily="34" charset="-122"/>
                <a:cs typeface="Inter Tight" pitchFamily="34" charset="-120"/>
              </a:rPr>
              <a:t>Dashboard</a:t>
            </a:r>
            <a:endParaRPr lang="en-US" sz="1193" dirty="0"/>
          </a:p>
        </p:txBody>
      </p:sp>
      <p:sp>
        <p:nvSpPr>
          <p:cNvPr id="10" name="Text 5"/>
          <p:cNvSpPr/>
          <p:nvPr/>
        </p:nvSpPr>
        <p:spPr>
          <a:xfrm>
            <a:off x="3833487" y="2193131"/>
            <a:ext cx="1904674" cy="480027"/>
          </a:xfrm>
          <a:prstGeom prst="rect">
            <a:avLst/>
          </a:prstGeom>
          <a:noFill/>
          <a:ln/>
        </p:spPr>
        <p:txBody>
          <a:bodyPr wrap="square" lIns="0" tIns="0" rIns="0" bIns="0" rtlCol="0" anchor="t">
            <a:spAutoFit/>
          </a:bodyPr>
          <a:lstStyle/>
          <a:p>
            <a:pPr algn="ctr" indent="0" marL="0">
              <a:lnSpc>
                <a:spcPts val="1300"/>
              </a:lnSpc>
              <a:buNone/>
            </a:pPr>
            <a:r>
              <a:rPr lang="en-US" sz="784" b="1" dirty="0">
                <a:solidFill>
                  <a:srgbClr val="334155"/>
                </a:solidFill>
                <a:latin typeface="Inter Tight" pitchFamily="34" charset="0"/>
                <a:ea typeface="Inter Tight" pitchFamily="34" charset="-122"/>
                <a:cs typeface="Inter Tight" pitchFamily="34" charset="-120"/>
              </a:rPr>
              <a:t>Pilotage en temps réel des indicateurs clés et de l'activité commerciale.</a:t>
            </a:r>
            <a:endParaRPr lang="en-US" sz="784" dirty="0"/>
          </a:p>
        </p:txBody>
      </p:sp>
      <p:sp>
        <p:nvSpPr>
          <p:cNvPr id="11" name="Shape 6"/>
          <p:cNvSpPr/>
          <p:nvPr/>
        </p:nvSpPr>
        <p:spPr>
          <a:xfrm>
            <a:off x="6238224" y="1143000"/>
            <a:ext cx="2333327" cy="1571625"/>
          </a:xfrm>
          <a:prstGeom prst="rect">
            <a:avLst/>
          </a:prstGeom>
          <a:solidFill>
            <a:srgbClr val="FFFFFF"/>
          </a:solidFill>
          <a:ln w="18288">
            <a:solidFill>
              <a:srgbClr val="334155"/>
            </a:solidFill>
            <a:prstDash val="solid"/>
          </a:ln>
        </p:spPr>
      </p:sp>
      <p:pic>
        <p:nvPicPr>
          <p:cNvPr id="12" name="Image 2" descr="preencoded.png">    </p:cNvPr>
          <p:cNvPicPr>
            <a:picLocks noChangeAspect="1"/>
          </p:cNvPicPr>
          <p:nvPr/>
        </p:nvPicPr>
        <p:blipFill>
          <a:blip r:embed="rId3"/>
          <a:stretch>
            <a:fillRect/>
          </a:stretch>
        </p:blipFill>
        <p:spPr>
          <a:xfrm>
            <a:off x="7190575" y="1428750"/>
            <a:ext cx="428625" cy="342900"/>
          </a:xfrm>
          <a:prstGeom prst="rect">
            <a:avLst/>
          </a:prstGeom>
        </p:spPr>
      </p:pic>
      <p:sp>
        <p:nvSpPr>
          <p:cNvPr id="13" name="Text 7"/>
          <p:cNvSpPr/>
          <p:nvPr/>
        </p:nvSpPr>
        <p:spPr>
          <a:xfrm>
            <a:off x="6987871" y="1914525"/>
            <a:ext cx="834033" cy="207169"/>
          </a:xfrm>
          <a:prstGeom prst="rect">
            <a:avLst/>
          </a:prstGeom>
          <a:noFill/>
          <a:ln/>
        </p:spPr>
        <p:txBody>
          <a:bodyPr wrap="none" lIns="0" tIns="0" rIns="0" bIns="0" rtlCol="0" anchor="t">
            <a:spAutoFit/>
          </a:bodyPr>
          <a:lstStyle/>
          <a:p>
            <a:pPr algn="ctr" indent="0" marL="0">
              <a:lnSpc>
                <a:spcPts val="1600"/>
              </a:lnSpc>
              <a:buNone/>
            </a:pPr>
            <a:r>
              <a:rPr lang="en-US" sz="1193" b="1" dirty="0">
                <a:solidFill>
                  <a:srgbClr val="0F172A"/>
                </a:solidFill>
                <a:latin typeface="Inter Tight" pitchFamily="34" charset="0"/>
                <a:ea typeface="Inter Tight" pitchFamily="34" charset="-122"/>
                <a:cs typeface="Inter Tight" pitchFamily="34" charset="-120"/>
              </a:rPr>
              <a:t>CRM Agile</a:t>
            </a:r>
            <a:endParaRPr lang="en-US" sz="1193" dirty="0"/>
          </a:p>
        </p:txBody>
      </p:sp>
      <p:sp>
        <p:nvSpPr>
          <p:cNvPr id="14" name="Text 8"/>
          <p:cNvSpPr/>
          <p:nvPr/>
        </p:nvSpPr>
        <p:spPr>
          <a:xfrm>
            <a:off x="6452536" y="2193131"/>
            <a:ext cx="1904702" cy="320018"/>
          </a:xfrm>
          <a:prstGeom prst="rect">
            <a:avLst/>
          </a:prstGeom>
          <a:noFill/>
          <a:ln/>
        </p:spPr>
        <p:txBody>
          <a:bodyPr wrap="square" lIns="0" tIns="0" rIns="0" bIns="0" rtlCol="0" anchor="t">
            <a:spAutoFit/>
          </a:bodyPr>
          <a:lstStyle/>
          <a:p>
            <a:pPr algn="ctr" indent="0" marL="0">
              <a:lnSpc>
                <a:spcPts val="1300"/>
              </a:lnSpc>
              <a:buNone/>
            </a:pPr>
            <a:r>
              <a:rPr lang="en-US" sz="784" b="1" dirty="0">
                <a:solidFill>
                  <a:srgbClr val="334155"/>
                </a:solidFill>
                <a:latin typeface="Inter Tight" pitchFamily="34" charset="0"/>
                <a:ea typeface="Inter Tight" pitchFamily="34" charset="-122"/>
                <a:cs typeface="Inter Tight" pitchFamily="34" charset="-120"/>
              </a:rPr>
              <a:t>Gestion fluide des contacts, entreprises et opportunités métiers.</a:t>
            </a:r>
            <a:endParaRPr lang="en-US" sz="784" dirty="0"/>
          </a:p>
        </p:txBody>
      </p:sp>
      <p:sp>
        <p:nvSpPr>
          <p:cNvPr id="15" name="Shape 9"/>
          <p:cNvSpPr/>
          <p:nvPr/>
        </p:nvSpPr>
        <p:spPr>
          <a:xfrm>
            <a:off x="3619174" y="3000375"/>
            <a:ext cx="2333299" cy="1571625"/>
          </a:xfrm>
          <a:prstGeom prst="rect">
            <a:avLst/>
          </a:prstGeom>
          <a:solidFill>
            <a:srgbClr val="FFFFFF"/>
          </a:solidFill>
          <a:ln w="18288">
            <a:solidFill>
              <a:srgbClr val="334155"/>
            </a:solidFill>
            <a:prstDash val="solid"/>
          </a:ln>
        </p:spPr>
      </p:sp>
      <p:pic>
        <p:nvPicPr>
          <p:cNvPr id="16" name="Image 3" descr="preencoded.png">    </p:cNvPr>
          <p:cNvPicPr>
            <a:picLocks noChangeAspect="1"/>
          </p:cNvPicPr>
          <p:nvPr/>
        </p:nvPicPr>
        <p:blipFill>
          <a:blip r:embed="rId4"/>
          <a:stretch>
            <a:fillRect/>
          </a:stretch>
        </p:blipFill>
        <p:spPr>
          <a:xfrm>
            <a:off x="4614360" y="3286125"/>
            <a:ext cx="342900" cy="342900"/>
          </a:xfrm>
          <a:prstGeom prst="rect">
            <a:avLst/>
          </a:prstGeom>
        </p:spPr>
      </p:pic>
      <p:sp>
        <p:nvSpPr>
          <p:cNvPr id="17" name="Text 10"/>
          <p:cNvSpPr/>
          <p:nvPr/>
        </p:nvSpPr>
        <p:spPr>
          <a:xfrm>
            <a:off x="4135729" y="3771900"/>
            <a:ext cx="1300163" cy="207169"/>
          </a:xfrm>
          <a:prstGeom prst="rect">
            <a:avLst/>
          </a:prstGeom>
          <a:noFill/>
          <a:ln/>
        </p:spPr>
        <p:txBody>
          <a:bodyPr wrap="none" lIns="0" tIns="0" rIns="0" bIns="0" rtlCol="0" anchor="t">
            <a:spAutoFit/>
          </a:bodyPr>
          <a:lstStyle/>
          <a:p>
            <a:pPr algn="ctr" indent="0" marL="0">
              <a:lnSpc>
                <a:spcPts val="1600"/>
              </a:lnSpc>
              <a:buNone/>
            </a:pPr>
            <a:r>
              <a:rPr lang="en-US" sz="1193" b="1" dirty="0">
                <a:solidFill>
                  <a:srgbClr val="0F172A"/>
                </a:solidFill>
                <a:latin typeface="Inter Tight" pitchFamily="34" charset="0"/>
                <a:ea typeface="Inter Tight" pitchFamily="34" charset="-122"/>
                <a:cs typeface="Inter Tight" pitchFamily="34" charset="-120"/>
              </a:rPr>
              <a:t>Pipeline Kanban</a:t>
            </a:r>
            <a:endParaRPr lang="en-US" sz="1193" dirty="0"/>
          </a:p>
        </p:txBody>
      </p:sp>
      <p:sp>
        <p:nvSpPr>
          <p:cNvPr id="18" name="Text 11"/>
          <p:cNvSpPr/>
          <p:nvPr/>
        </p:nvSpPr>
        <p:spPr>
          <a:xfrm>
            <a:off x="3833487" y="4050506"/>
            <a:ext cx="1904674" cy="320018"/>
          </a:xfrm>
          <a:prstGeom prst="rect">
            <a:avLst/>
          </a:prstGeom>
          <a:noFill/>
          <a:ln/>
        </p:spPr>
        <p:txBody>
          <a:bodyPr wrap="square" lIns="0" tIns="0" rIns="0" bIns="0" rtlCol="0" anchor="t">
            <a:spAutoFit/>
          </a:bodyPr>
          <a:lstStyle/>
          <a:p>
            <a:pPr algn="ctr" indent="0" marL="0">
              <a:lnSpc>
                <a:spcPts val="1300"/>
              </a:lnSpc>
              <a:buNone/>
            </a:pPr>
            <a:r>
              <a:rPr lang="en-US" sz="784" b="1" dirty="0">
                <a:solidFill>
                  <a:srgbClr val="334155"/>
                </a:solidFill>
                <a:latin typeface="Inter Tight" pitchFamily="34" charset="0"/>
                <a:ea typeface="Inter Tight" pitchFamily="34" charset="-122"/>
                <a:cs typeface="Inter Tight" pitchFamily="34" charset="-120"/>
              </a:rPr>
              <a:t>Suivi visuel du tunnel de vente avec gestion intuitive par drag &amp; drop.</a:t>
            </a:r>
            <a:endParaRPr lang="en-US" sz="784" dirty="0"/>
          </a:p>
        </p:txBody>
      </p:sp>
      <p:sp>
        <p:nvSpPr>
          <p:cNvPr id="19" name="Shape 12"/>
          <p:cNvSpPr/>
          <p:nvPr/>
        </p:nvSpPr>
        <p:spPr>
          <a:xfrm>
            <a:off x="6238224" y="3000375"/>
            <a:ext cx="2333327" cy="1571625"/>
          </a:xfrm>
          <a:prstGeom prst="rect">
            <a:avLst/>
          </a:prstGeom>
          <a:solidFill>
            <a:srgbClr val="FFFFFF"/>
          </a:solidFill>
          <a:ln w="18288">
            <a:solidFill>
              <a:srgbClr val="334155"/>
            </a:solidFill>
            <a:prstDash val="solid"/>
          </a:ln>
        </p:spPr>
      </p:sp>
      <p:pic>
        <p:nvPicPr>
          <p:cNvPr id="20" name="Image 4" descr="preencoded.png">    </p:cNvPr>
          <p:cNvPicPr>
            <a:picLocks noChangeAspect="1"/>
          </p:cNvPicPr>
          <p:nvPr/>
        </p:nvPicPr>
        <p:blipFill>
          <a:blip r:embed="rId5"/>
          <a:stretch>
            <a:fillRect/>
          </a:stretch>
        </p:blipFill>
        <p:spPr>
          <a:xfrm>
            <a:off x="7233438" y="3286125"/>
            <a:ext cx="342900" cy="342900"/>
          </a:xfrm>
          <a:prstGeom prst="rect">
            <a:avLst/>
          </a:prstGeom>
        </p:spPr>
      </p:pic>
      <p:sp>
        <p:nvSpPr>
          <p:cNvPr id="21" name="Text 13"/>
          <p:cNvSpPr/>
          <p:nvPr/>
        </p:nvSpPr>
        <p:spPr>
          <a:xfrm>
            <a:off x="6811063" y="3771900"/>
            <a:ext cx="1187648" cy="207169"/>
          </a:xfrm>
          <a:prstGeom prst="rect">
            <a:avLst/>
          </a:prstGeom>
          <a:noFill/>
          <a:ln/>
        </p:spPr>
        <p:txBody>
          <a:bodyPr wrap="none" lIns="0" tIns="0" rIns="0" bIns="0" rtlCol="0" anchor="t">
            <a:spAutoFit/>
          </a:bodyPr>
          <a:lstStyle/>
          <a:p>
            <a:pPr algn="ctr" indent="0" marL="0">
              <a:lnSpc>
                <a:spcPts val="1600"/>
              </a:lnSpc>
              <a:buNone/>
            </a:pPr>
            <a:r>
              <a:rPr lang="en-US" sz="1193" b="1" dirty="0">
                <a:solidFill>
                  <a:srgbClr val="0F172A"/>
                </a:solidFill>
                <a:latin typeface="Inter Tight" pitchFamily="34" charset="0"/>
                <a:ea typeface="Inter Tight" pitchFamily="34" charset="-122"/>
                <a:cs typeface="Inter Tight" pitchFamily="34" charset="-120"/>
              </a:rPr>
              <a:t>Emailing Brevo</a:t>
            </a:r>
            <a:endParaRPr lang="en-US" sz="1193" dirty="0"/>
          </a:p>
        </p:txBody>
      </p:sp>
      <p:sp>
        <p:nvSpPr>
          <p:cNvPr id="22" name="Text 14"/>
          <p:cNvSpPr/>
          <p:nvPr/>
        </p:nvSpPr>
        <p:spPr>
          <a:xfrm>
            <a:off x="6452536" y="4050506"/>
            <a:ext cx="1904702" cy="480027"/>
          </a:xfrm>
          <a:prstGeom prst="rect">
            <a:avLst/>
          </a:prstGeom>
          <a:noFill/>
          <a:ln/>
        </p:spPr>
        <p:txBody>
          <a:bodyPr wrap="square" lIns="0" tIns="0" rIns="0" bIns="0" rtlCol="0" anchor="t">
            <a:spAutoFit/>
          </a:bodyPr>
          <a:lstStyle/>
          <a:p>
            <a:pPr algn="ctr" indent="0" marL="0">
              <a:lnSpc>
                <a:spcPts val="1300"/>
              </a:lnSpc>
              <a:buNone/>
            </a:pPr>
            <a:r>
              <a:rPr lang="en-US" sz="784" b="1" dirty="0">
                <a:solidFill>
                  <a:srgbClr val="334155"/>
                </a:solidFill>
                <a:latin typeface="Inter Tight" pitchFamily="34" charset="0"/>
                <a:ea typeface="Inter Tight" pitchFamily="34" charset="-122"/>
                <a:cs typeface="Inter Tight" pitchFamily="34" charset="-120"/>
              </a:rPr>
              <a:t>Automatisation des communications et analyse des performances marketing.</a:t>
            </a:r>
            <a:endParaRPr lang="en-US" sz="784"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3047674" cy="5143500"/>
          </a:xfrm>
          <a:prstGeom prst="rect">
            <a:avLst/>
          </a:prstGeom>
          <a:solidFill>
            <a:srgbClr val="0F172A"/>
          </a:solidFill>
          <a:ln/>
        </p:spPr>
      </p:sp>
      <p:sp>
        <p:nvSpPr>
          <p:cNvPr id="5" name="Text 1"/>
          <p:cNvSpPr/>
          <p:nvPr/>
        </p:nvSpPr>
        <p:spPr>
          <a:xfrm>
            <a:off x="428625" y="2323170"/>
            <a:ext cx="2333299" cy="754335"/>
          </a:xfrm>
          <a:prstGeom prst="rect">
            <a:avLst/>
          </a:prstGeom>
          <a:noFill/>
          <a:ln/>
        </p:spPr>
        <p:txBody>
          <a:bodyPr wrap="square" lIns="0" tIns="0" rIns="0" bIns="0" rtlCol="0" anchor="t">
            <a:spAutoFit/>
          </a:bodyPr>
          <a:lstStyle/>
          <a:p>
            <a:pPr algn="l" indent="0" marL="0">
              <a:lnSpc>
                <a:spcPts val="3000"/>
              </a:lnSpc>
              <a:buNone/>
            </a:pPr>
            <a:r>
              <a:rPr lang="en-US" sz="2436" b="1" dirty="0">
                <a:solidFill>
                  <a:srgbClr val="FFFFFF"/>
                </a:solidFill>
                <a:latin typeface="Inter Tight" pitchFamily="34" charset="0"/>
                <a:ea typeface="Inter Tight" pitchFamily="34" charset="-122"/>
                <a:cs typeface="Inter Tight" pitchFamily="34" charset="-120"/>
              </a:rPr>
              <a:t>Conclusion &amp; Perspectives</a:t>
            </a:r>
            <a:endParaRPr lang="en-US" sz="2436" dirty="0"/>
          </a:p>
        </p:txBody>
      </p:sp>
      <p:sp>
        <p:nvSpPr>
          <p:cNvPr id="6" name="Shape 2"/>
          <p:cNvSpPr/>
          <p:nvPr/>
        </p:nvSpPr>
        <p:spPr>
          <a:xfrm>
            <a:off x="3047674" y="0"/>
            <a:ext cx="6095377" cy="5143500"/>
          </a:xfrm>
          <a:prstGeom prst="rect">
            <a:avLst/>
          </a:prstGeom>
          <a:solidFill>
            <a:srgbClr val="F8FAFC"/>
          </a:solidFill>
          <a:ln/>
        </p:spPr>
      </p:sp>
      <p:sp>
        <p:nvSpPr>
          <p:cNvPr id="7" name="Shape 3"/>
          <p:cNvSpPr/>
          <p:nvPr/>
        </p:nvSpPr>
        <p:spPr>
          <a:xfrm>
            <a:off x="3619174" y="571500"/>
            <a:ext cx="4952377" cy="1701552"/>
          </a:xfrm>
          <a:prstGeom prst="rect">
            <a:avLst/>
          </a:prstGeom>
          <a:solidFill>
            <a:srgbClr val="FFFFFF"/>
          </a:solidFill>
          <a:ln w="18288">
            <a:solidFill>
              <a:srgbClr val="334155"/>
            </a:solidFill>
            <a:prstDash val="solid"/>
          </a:ln>
        </p:spPr>
      </p:sp>
      <p:sp>
        <p:nvSpPr>
          <p:cNvPr id="8" name="Text 4"/>
          <p:cNvSpPr/>
          <p:nvPr/>
        </p:nvSpPr>
        <p:spPr>
          <a:xfrm>
            <a:off x="3833487" y="785813"/>
            <a:ext cx="4523752" cy="242888"/>
          </a:xfrm>
          <a:prstGeom prst="rect">
            <a:avLst/>
          </a:prstGeom>
          <a:noFill/>
          <a:ln/>
        </p:spPr>
        <p:txBody>
          <a:bodyPr wrap="none" lIns="0" tIns="0" rIns="0" bIns="0" rtlCol="0" anchor="t">
            <a:spAutoFit/>
          </a:bodyPr>
          <a:lstStyle/>
          <a:p>
            <a:pPr algn="l" indent="0" marL="0">
              <a:lnSpc>
                <a:spcPts val="1900"/>
              </a:lnSpc>
              <a:buNone/>
            </a:pPr>
            <a:r>
              <a:rPr lang="en-US" sz="1397" b="1" dirty="0">
                <a:solidFill>
                  <a:srgbClr val="0F172A"/>
                </a:solidFill>
                <a:latin typeface="Inter Tight" pitchFamily="34" charset="0"/>
                <a:ea typeface="Inter Tight" pitchFamily="34" charset="-122"/>
                <a:cs typeface="Inter Tight" pitchFamily="34" charset="-120"/>
              </a:rPr>
              <a:t>Bilan du Projet</a:t>
            </a:r>
            <a:endParaRPr lang="en-US" sz="1397" dirty="0"/>
          </a:p>
        </p:txBody>
      </p:sp>
      <p:sp>
        <p:nvSpPr>
          <p:cNvPr id="9" name="Text 5"/>
          <p:cNvSpPr/>
          <p:nvPr/>
        </p:nvSpPr>
        <p:spPr>
          <a:xfrm>
            <a:off x="3833487" y="1135856"/>
            <a:ext cx="4523752" cy="411435"/>
          </a:xfrm>
          <a:prstGeom prst="rect">
            <a:avLst/>
          </a:prstGeom>
          <a:noFill/>
          <a:ln/>
        </p:spPr>
        <p:txBody>
          <a:bodyPr wrap="square" lIns="0" tIns="0" rIns="0" bIns="0" rtlCol="0" anchor="t">
            <a:spAutoFit/>
          </a:bodyPr>
          <a:lstStyle/>
          <a:p>
            <a:pPr algn="l" indent="0" marL="0">
              <a:lnSpc>
                <a:spcPts val="1600"/>
              </a:lnSpc>
              <a:buNone/>
            </a:pPr>
            <a:r>
              <a:rPr lang="en-US" sz="885" b="1" dirty="0">
                <a:solidFill>
                  <a:srgbClr val="334155"/>
                </a:solidFill>
                <a:latin typeface="Inter Tight" pitchFamily="34" charset="0"/>
                <a:ea typeface="Inter Tight" pitchFamily="34" charset="-122"/>
                <a:cs typeface="Inter Tight" pitchFamily="34" charset="-120"/>
              </a:rPr>
              <a:t>Ce projet a permis de réaliser un </a:t>
            </a:r>
            <a:pPr algn="l" indent="0" marL="0">
              <a:lnSpc>
                <a:spcPts val="1600"/>
              </a:lnSpc>
              <a:buNone/>
            </a:pPr>
            <a:r>
              <a:rPr lang="en-US" sz="885" b="1" dirty="0">
                <a:solidFill>
                  <a:srgbClr val="3B82F6"/>
                </a:solidFill>
                <a:latin typeface="Inter Tight" pitchFamily="34" charset="0"/>
                <a:ea typeface="Inter Tight" pitchFamily="34" charset="-122"/>
                <a:cs typeface="Inter Tight" pitchFamily="34" charset="-120"/>
              </a:rPr>
              <a:t>CRM Full SaaS fonctionnel</a:t>
            </a:r>
            <a:pPr algn="l" indent="0" marL="0">
              <a:lnSpc>
                <a:spcPts val="1600"/>
              </a:lnSpc>
              <a:buNone/>
            </a:pPr>
            <a:r>
              <a:rPr lang="en-US" sz="885" b="1" dirty="0">
                <a:solidFill>
                  <a:srgbClr val="334155"/>
                </a:solidFill>
                <a:latin typeface="Inter Tight" pitchFamily="34" charset="0"/>
                <a:ea typeface="Inter Tight" pitchFamily="34" charset="-122"/>
                <a:cs typeface="Inter Tight" pitchFamily="34" charset="-120"/>
              </a:rPr>
              <a:t> répondant aux </a:t>
            </a:r>
            <a:pPr algn="l" indent="0" marL="0">
              <a:lnSpc>
                <a:spcPts val="1600"/>
              </a:lnSpc>
              <a:buNone/>
            </a:pPr>
            <a:r>
              <a:rPr lang="en-US" sz="885" b="1" dirty="0">
                <a:solidFill>
                  <a:srgbClr val="334155"/>
                </a:solidFill>
                <a:latin typeface="Inter Tight" pitchFamily="34" charset="0"/>
                <a:ea typeface="Inter Tight" pitchFamily="34" charset="-122"/>
                <a:cs typeface="Inter Tight" pitchFamily="34" charset="-120"/>
              </a:rPr>
              <a:t>exigences académiques et aux besoins réels de gestion client.</a:t>
            </a:r>
            <a:endParaRPr lang="en-US" sz="885" dirty="0"/>
          </a:p>
        </p:txBody>
      </p:sp>
      <p:sp>
        <p:nvSpPr>
          <p:cNvPr id="10" name="Text 6"/>
          <p:cNvSpPr/>
          <p:nvPr/>
        </p:nvSpPr>
        <p:spPr>
          <a:xfrm>
            <a:off x="3833487" y="1690167"/>
            <a:ext cx="4523752" cy="411435"/>
          </a:xfrm>
          <a:prstGeom prst="rect">
            <a:avLst/>
          </a:prstGeom>
          <a:noFill/>
          <a:ln/>
        </p:spPr>
        <p:txBody>
          <a:bodyPr wrap="square" lIns="0" tIns="0" rIns="0" bIns="0" rtlCol="0" anchor="t">
            <a:spAutoFit/>
          </a:bodyPr>
          <a:lstStyle/>
          <a:p>
            <a:pPr algn="l" indent="0" marL="0">
              <a:lnSpc>
                <a:spcPts val="1600"/>
              </a:lnSpc>
              <a:buNone/>
            </a:pPr>
            <a:r>
              <a:rPr lang="en-US" sz="885" b="1" dirty="0">
                <a:solidFill>
                  <a:srgbClr val="334155"/>
                </a:solidFill>
                <a:latin typeface="Inter Tight" pitchFamily="34" charset="0"/>
                <a:ea typeface="Inter Tight" pitchFamily="34" charset="-122"/>
                <a:cs typeface="Inter Tight" pitchFamily="34" charset="-120"/>
              </a:rPr>
              <a:t>Validation d'une architecture moderne combinant </a:t>
            </a:r>
            <a:pPr algn="l" indent="0" marL="0">
              <a:lnSpc>
                <a:spcPts val="1600"/>
              </a:lnSpc>
              <a:buNone/>
            </a:pPr>
            <a:r>
              <a:rPr lang="en-US" sz="885" b="1" dirty="0">
                <a:solidFill>
                  <a:srgbClr val="3B82F6"/>
                </a:solidFill>
                <a:latin typeface="Inter Tight" pitchFamily="34" charset="0"/>
                <a:ea typeface="Inter Tight" pitchFamily="34" charset="-122"/>
                <a:cs typeface="Inter Tight" pitchFamily="34" charset="-120"/>
              </a:rPr>
              <a:t>Next.js, Supabase et Brevo</a:t>
            </a:r>
            <a:pPr algn="l" indent="0" marL="0">
              <a:lnSpc>
                <a:spcPts val="1600"/>
              </a:lnSpc>
              <a:buNone/>
            </a:pPr>
            <a:r>
              <a:rPr lang="en-US" sz="885" b="1" dirty="0">
                <a:solidFill>
                  <a:srgbClr val="334155"/>
                </a:solidFill>
                <a:latin typeface="Inter Tight" pitchFamily="34" charset="0"/>
                <a:ea typeface="Inter Tight" pitchFamily="34" charset="-122"/>
                <a:cs typeface="Inter Tight" pitchFamily="34" charset="-120"/>
              </a:rPr>
              <a:t> avec un workflow DevOps professionnel.</a:t>
            </a:r>
            <a:endParaRPr lang="en-US" sz="885" dirty="0"/>
          </a:p>
        </p:txBody>
      </p:sp>
      <p:sp>
        <p:nvSpPr>
          <p:cNvPr id="11" name="Shape 7"/>
          <p:cNvSpPr/>
          <p:nvPr/>
        </p:nvSpPr>
        <p:spPr>
          <a:xfrm>
            <a:off x="3619174" y="2387352"/>
            <a:ext cx="4952377" cy="2255862"/>
          </a:xfrm>
          <a:prstGeom prst="rect">
            <a:avLst/>
          </a:prstGeom>
          <a:solidFill>
            <a:srgbClr val="FFFFFF"/>
          </a:solidFill>
          <a:ln w="18288">
            <a:solidFill>
              <a:srgbClr val="334155"/>
            </a:solidFill>
            <a:prstDash val="solid"/>
          </a:ln>
        </p:spPr>
      </p:sp>
      <p:sp>
        <p:nvSpPr>
          <p:cNvPr id="12" name="Text 8"/>
          <p:cNvSpPr/>
          <p:nvPr/>
        </p:nvSpPr>
        <p:spPr>
          <a:xfrm>
            <a:off x="3833487" y="2601664"/>
            <a:ext cx="4523752" cy="242888"/>
          </a:xfrm>
          <a:prstGeom prst="rect">
            <a:avLst/>
          </a:prstGeom>
          <a:noFill/>
          <a:ln/>
        </p:spPr>
        <p:txBody>
          <a:bodyPr wrap="none" lIns="0" tIns="0" rIns="0" bIns="0" rtlCol="0" anchor="t">
            <a:spAutoFit/>
          </a:bodyPr>
          <a:lstStyle/>
          <a:p>
            <a:pPr algn="l" indent="0" marL="0">
              <a:lnSpc>
                <a:spcPts val="1900"/>
              </a:lnSpc>
              <a:buNone/>
            </a:pPr>
            <a:r>
              <a:rPr lang="en-US" sz="1397" b="1" dirty="0">
                <a:solidFill>
                  <a:srgbClr val="0F172A"/>
                </a:solidFill>
                <a:latin typeface="Inter Tight" pitchFamily="34" charset="0"/>
                <a:ea typeface="Inter Tight" pitchFamily="34" charset="-122"/>
                <a:cs typeface="Inter Tight" pitchFamily="34" charset="-120"/>
              </a:rPr>
              <a:t>Évolutions Futures</a:t>
            </a:r>
            <a:endParaRPr lang="en-US" sz="1397" dirty="0"/>
          </a:p>
        </p:txBody>
      </p:sp>
      <p:sp>
        <p:nvSpPr>
          <p:cNvPr id="13" name="Text 9"/>
          <p:cNvSpPr/>
          <p:nvPr/>
        </p:nvSpPr>
        <p:spPr>
          <a:xfrm>
            <a:off x="3833487" y="2951708"/>
            <a:ext cx="4523752" cy="411435"/>
          </a:xfrm>
          <a:prstGeom prst="rect">
            <a:avLst/>
          </a:prstGeom>
          <a:noFill/>
          <a:ln/>
        </p:spPr>
        <p:txBody>
          <a:bodyPr wrap="square" lIns="0" tIns="0" rIns="0" bIns="0" rtlCol="0" anchor="t">
            <a:spAutoFit/>
          </a:bodyPr>
          <a:lstStyle/>
          <a:p>
            <a:pPr algn="l" indent="0" marL="0">
              <a:lnSpc>
                <a:spcPts val="1600"/>
              </a:lnSpc>
              <a:buNone/>
            </a:pPr>
            <a:r>
              <a:rPr lang="en-US" sz="885" b="1" dirty="0">
                <a:solidFill>
                  <a:srgbClr val="334155"/>
                </a:solidFill>
                <a:latin typeface="Inter Tight" pitchFamily="34" charset="0"/>
                <a:ea typeface="Inter Tight" pitchFamily="34" charset="-122"/>
                <a:cs typeface="Inter Tight" pitchFamily="34" charset="-120"/>
              </a:rPr>
              <a:t>Intelligence Artificielle :</a:t>
            </a:r>
            <a:pPr algn="l" indent="0" marL="0">
              <a:lnSpc>
                <a:spcPts val="1600"/>
              </a:lnSpc>
              <a:buNone/>
            </a:pPr>
            <a:r>
              <a:rPr lang="en-US" sz="885" b="1" dirty="0">
                <a:solidFill>
                  <a:srgbClr val="334155"/>
                </a:solidFill>
                <a:latin typeface="Inter Tight" pitchFamily="34" charset="0"/>
                <a:ea typeface="Inter Tight" pitchFamily="34" charset="-122"/>
                <a:cs typeface="Inter Tight" pitchFamily="34" charset="-120"/>
              </a:rPr>
              <a:t> Intégration de modèles de scoring prédictif pour </a:t>
            </a:r>
            <a:pPr algn="l" indent="0" marL="0">
              <a:lnSpc>
                <a:spcPts val="1600"/>
              </a:lnSpc>
              <a:buNone/>
            </a:pPr>
            <a:r>
              <a:rPr lang="en-US" sz="885" b="1" dirty="0">
                <a:solidFill>
                  <a:srgbClr val="334155"/>
                </a:solidFill>
                <a:latin typeface="Inter Tight" pitchFamily="34" charset="0"/>
                <a:ea typeface="Inter Tight" pitchFamily="34" charset="-122"/>
                <a:cs typeface="Inter Tight" pitchFamily="34" charset="-120"/>
              </a:rPr>
              <a:t>qualifier automatiquement les leads.</a:t>
            </a:r>
            <a:endParaRPr lang="en-US" sz="885" dirty="0"/>
          </a:p>
        </p:txBody>
      </p:sp>
      <p:sp>
        <p:nvSpPr>
          <p:cNvPr id="14" name="Text 10"/>
          <p:cNvSpPr/>
          <p:nvPr/>
        </p:nvSpPr>
        <p:spPr>
          <a:xfrm>
            <a:off x="3833487" y="3506019"/>
            <a:ext cx="4523752" cy="411435"/>
          </a:xfrm>
          <a:prstGeom prst="rect">
            <a:avLst/>
          </a:prstGeom>
          <a:noFill/>
          <a:ln/>
        </p:spPr>
        <p:txBody>
          <a:bodyPr wrap="square" lIns="0" tIns="0" rIns="0" bIns="0" rtlCol="0" anchor="t">
            <a:spAutoFit/>
          </a:bodyPr>
          <a:lstStyle/>
          <a:p>
            <a:pPr algn="l" indent="0" marL="0">
              <a:lnSpc>
                <a:spcPts val="1600"/>
              </a:lnSpc>
              <a:buNone/>
            </a:pPr>
            <a:r>
              <a:rPr lang="en-US" sz="885" b="1" dirty="0">
                <a:solidFill>
                  <a:srgbClr val="334155"/>
                </a:solidFill>
                <a:latin typeface="Inter Tight" pitchFamily="34" charset="0"/>
                <a:ea typeface="Inter Tight" pitchFamily="34" charset="-122"/>
                <a:cs typeface="Inter Tight" pitchFamily="34" charset="-120"/>
              </a:rPr>
              <a:t>Mobilité :</a:t>
            </a:r>
            <a:pPr algn="l" indent="0" marL="0">
              <a:lnSpc>
                <a:spcPts val="1600"/>
              </a:lnSpc>
              <a:buNone/>
            </a:pPr>
            <a:r>
              <a:rPr lang="en-US" sz="885" b="1" dirty="0">
                <a:solidFill>
                  <a:srgbClr val="334155"/>
                </a:solidFill>
                <a:latin typeface="Inter Tight" pitchFamily="34" charset="0"/>
                <a:ea typeface="Inter Tight" pitchFamily="34" charset="-122"/>
                <a:cs typeface="Inter Tight" pitchFamily="34" charset="-120"/>
              </a:rPr>
              <a:t> Développement d'une application mobile native pour faciliter le suivi </a:t>
            </a:r>
            <a:pPr algn="l" indent="0" marL="0">
              <a:lnSpc>
                <a:spcPts val="1600"/>
              </a:lnSpc>
              <a:buNone/>
            </a:pPr>
            <a:r>
              <a:rPr lang="en-US" sz="885" b="1" dirty="0">
                <a:solidFill>
                  <a:srgbClr val="334155"/>
                </a:solidFill>
                <a:latin typeface="Inter Tight" pitchFamily="34" charset="0"/>
                <a:ea typeface="Inter Tight" pitchFamily="34" charset="-122"/>
                <a:cs typeface="Inter Tight" pitchFamily="34" charset="-120"/>
              </a:rPr>
              <a:t>commercial sur le terrain.</a:t>
            </a:r>
            <a:endParaRPr lang="en-US" sz="885" dirty="0"/>
          </a:p>
        </p:txBody>
      </p:sp>
      <p:sp>
        <p:nvSpPr>
          <p:cNvPr id="15" name="Text 11"/>
          <p:cNvSpPr/>
          <p:nvPr/>
        </p:nvSpPr>
        <p:spPr>
          <a:xfrm>
            <a:off x="3833487" y="4060329"/>
            <a:ext cx="4523752" cy="411435"/>
          </a:xfrm>
          <a:prstGeom prst="rect">
            <a:avLst/>
          </a:prstGeom>
          <a:noFill/>
          <a:ln/>
        </p:spPr>
        <p:txBody>
          <a:bodyPr wrap="square" lIns="0" tIns="0" rIns="0" bIns="0" rtlCol="0" anchor="t">
            <a:spAutoFit/>
          </a:bodyPr>
          <a:lstStyle/>
          <a:p>
            <a:pPr algn="l" indent="0" marL="0">
              <a:lnSpc>
                <a:spcPts val="1600"/>
              </a:lnSpc>
              <a:buNone/>
            </a:pPr>
            <a:r>
              <a:rPr lang="en-US" sz="885" b="1" dirty="0">
                <a:solidFill>
                  <a:srgbClr val="334155"/>
                </a:solidFill>
                <a:latin typeface="Inter Tight" pitchFamily="34" charset="0"/>
                <a:ea typeface="Inter Tight" pitchFamily="34" charset="-122"/>
                <a:cs typeface="Inter Tight" pitchFamily="34" charset="-120"/>
              </a:rPr>
              <a:t>Démonstration :</a:t>
            </a:r>
            <a:pPr algn="l" indent="0" marL="0">
              <a:lnSpc>
                <a:spcPts val="1600"/>
              </a:lnSpc>
              <a:buNone/>
            </a:pPr>
            <a:r>
              <a:rPr lang="en-US" sz="885" b="1" dirty="0">
                <a:solidFill>
                  <a:srgbClr val="334155"/>
                </a:solidFill>
                <a:latin typeface="Inter Tight" pitchFamily="34" charset="0"/>
                <a:ea typeface="Inter Tight" pitchFamily="34" charset="-122"/>
                <a:cs typeface="Inter Tight" pitchFamily="34" charset="-120"/>
              </a:rPr>
              <a:t> Présentation du workflow complet et passage au jeu de tests </a:t>
            </a:r>
            <a:pPr algn="l" indent="0" marL="0">
              <a:lnSpc>
                <a:spcPts val="1600"/>
              </a:lnSpc>
              <a:buNone/>
            </a:pPr>
            <a:r>
              <a:rPr lang="en-US" sz="885" b="1" dirty="0">
                <a:solidFill>
                  <a:srgbClr val="334155"/>
                </a:solidFill>
                <a:latin typeface="Inter Tight" pitchFamily="34" charset="0"/>
                <a:ea typeface="Inter Tight" pitchFamily="34" charset="-122"/>
                <a:cs typeface="Inter Tight" pitchFamily="34" charset="-120"/>
              </a:rPr>
              <a:t>en direct.</a:t>
            </a:r>
            <a:endParaRPr lang="en-US" sz="88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2026-03-10T20:07:02Z</dcterms:created>
  <dcterms:modified xsi:type="dcterms:W3CDTF">2026-03-10T20:07:02Z</dcterms:modified>
</cp:coreProperties>
</file>